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  <a:latin typeface="Calibri"/>
              </a:defRPr>
            </a:pPr>
            <a:r>
              <a:t>Cell-Conditioned Gate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77777"/>
                </a:solidFill>
                <a:latin typeface="Calibri"/>
              </a:defRPr>
            </a:pPr>
            <a:r>
              <a:t>Improving Bipartite GIN with Cell Composition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77777"/>
                </a:solidFill>
                <a:latin typeface="Calibri"/>
              </a:defRPr>
            </a:pPr>
            <a:r>
              <a:t>PanNET Infiltration Pattern Scoring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What We Have: Cell Composition Per 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Calibri"/>
              </a:defRPr>
            </a:pPr>
            <a:r>
              <a:t>HoVer-Net (PanNuke) detected ~57M nuclei across 184 slides, classified into 6 types, collapsed to 4 channels: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18288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Contents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 PanNuke Types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Cells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[0] neoplastic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Tumor cells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Type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20.5M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[1] inflammatory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Immune cells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Type 2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3.9M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[2] other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Connective + dead + macrophages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Types 3, 4,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32.6M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[3] reserved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Always 0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686800" y="1463040"/>
            <a:ext cx="3017520" cy="2560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1554480"/>
            <a:ext cx="2651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Each patch gets a 4-dim vector:</a:t>
            </a:r>
          </a:p>
          <a:p>
            <a:pPr>
              <a:spcAft>
                <a:spcPts val="40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Example — immune-rich NNP patch:</a:t>
            </a:r>
          </a:p>
          <a:p>
            <a:pPr>
              <a:spcAft>
                <a:spcPts val="4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[  2,  45,  12,  0 ]</a:t>
            </a:r>
          </a:p>
          <a:p>
            <a:pPr>
              <a:spcAft>
                <a:spcPts val="40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  2 tumor, 45 immune, 12 other</a:t>
            </a:r>
          </a:p>
          <a:p>
            <a:pPr>
              <a:spcAft>
                <a:spcPts val="40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Example — dense tumor patch:</a:t>
            </a:r>
          </a:p>
          <a:p>
            <a:pPr>
              <a:spcAft>
                <a:spcPts val="4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[ 120,  3,   8,  0 ]</a:t>
            </a:r>
          </a:p>
          <a:p>
            <a:pPr>
              <a:spcAft>
                <a:spcPts val="40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  120 tumor, 3 immune, 8 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44444"/>
                </a:solidFill>
                <a:latin typeface="Calibri"/>
              </a:defRPr>
            </a:pPr>
            <a:r>
              <a:t>Coverage: 184 / 252 slides (73%), from 51 / 73 patients. Missing slides get zero-filled vectors.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846320"/>
          <a:ext cx="9144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188720"/>
                <a:gridCol w="1371600"/>
                <a:gridCol w="1188720"/>
                <a:gridCol w="402336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Fold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 With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Slides Without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Patients OK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Patients Missing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  (#32, #45, #47, #52, #68, #69)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s2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  (#36, #37, #44, #57, #72)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  (#16, #25, #41, #48, #49, #70)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s4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  (#43, #46, #59, #71, #73)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s5 (train only)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What Changes: Base GIN vs Cell-Conditioned 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4444"/>
                </a:solidFill>
                <a:latin typeface="Calibri"/>
              </a:defRPr>
            </a:pPr>
            <a:r>
              <a:t>Base GIN (cell_info_mode = none)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64592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200" b="1">
                <a:solidFill>
                  <a:srgbClr val="1A1A1A"/>
                </a:solidFill>
                <a:latin typeface="Calibri"/>
              </a:defRPr>
            </a:pPr>
            <a:r>
              <a:t>RMSNorm</a:t>
            </a:r>
          </a:p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(256)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554480"/>
            <a:ext cx="219456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200" b="1">
                <a:solidFill>
                  <a:srgbClr val="1A1A1A"/>
                </a:solidFill>
                <a:latin typeface="Calibri"/>
              </a:defRPr>
            </a:pPr>
            <a:r>
              <a:t>GINConv</a:t>
            </a:r>
          </a:p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+ Residual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554480"/>
            <a:ext cx="182880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200" b="1">
                <a:solidFill>
                  <a:srgbClr val="1A1A1A"/>
                </a:solidFill>
                <a:latin typeface="Calibri"/>
              </a:defRPr>
            </a:pPr>
            <a:r>
              <a:t>PanNET-Only</a:t>
            </a:r>
          </a:p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Pooling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554480"/>
            <a:ext cx="164592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200" b="1">
                <a:solidFill>
                  <a:srgbClr val="1A1A1A"/>
                </a:solidFill>
                <a:latin typeface="Calibri"/>
              </a:defRPr>
            </a:pPr>
            <a:r>
              <a:t>Regression</a:t>
            </a:r>
          </a:p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Head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103120"/>
            <a:ext cx="274320" cy="0"/>
          </a:xfrm>
          <a:prstGeom prst="line">
            <a:avLst/>
          </a:prstGeom>
          <a:ln w="190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63440" y="2103120"/>
            <a:ext cx="365760" cy="0"/>
          </a:xfrm>
          <a:prstGeom prst="line">
            <a:avLst/>
          </a:prstGeom>
          <a:ln w="190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2103120"/>
            <a:ext cx="365760" cy="0"/>
          </a:xfrm>
          <a:prstGeom prst="line">
            <a:avLst/>
          </a:prstGeom>
          <a:ln w="190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86000" y="2697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77777"/>
                </a:solidFill>
                <a:latin typeface="Calibri"/>
              </a:defRPr>
            </a:pPr>
            <a:r>
              <a:t>new_h(v) = MLP( h(v) + SUM[ h(u) ] ) + h(v)</a:t>
            </a:r>
            <a:br/>
            <a:r>
              <a:t>All neighbors weighted equally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4444"/>
                </a:solidFill>
                <a:latin typeface="Calibri"/>
              </a:defRPr>
            </a:pPr>
            <a:r>
              <a:t>Cell-Conditioned GIN (cell_info_mode = gate)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164592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200" b="1">
                <a:solidFill>
                  <a:srgbClr val="1A1A1A"/>
                </a:solidFill>
                <a:latin typeface="Calibri"/>
              </a:defRPr>
            </a:pPr>
            <a:r>
              <a:t>RMSNorm</a:t>
            </a:r>
          </a:p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(256)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3931920"/>
            <a:ext cx="2194560" cy="10972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200" b="1">
                <a:solidFill>
                  <a:srgbClr val="1A1A1A"/>
                </a:solidFill>
                <a:latin typeface="Calibri"/>
              </a:defRPr>
            </a:pPr>
            <a:r>
              <a:t>CellConditioned</a:t>
            </a:r>
          </a:p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Conv + Residual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3931920"/>
            <a:ext cx="182880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200" b="1">
                <a:solidFill>
                  <a:srgbClr val="1A1A1A"/>
                </a:solidFill>
                <a:latin typeface="Calibri"/>
              </a:defRPr>
            </a:pPr>
            <a:r>
              <a:t>PanNET-Only</a:t>
            </a:r>
          </a:p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Pooling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3931920"/>
            <a:ext cx="1645920" cy="1097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200" b="1">
                <a:solidFill>
                  <a:srgbClr val="1A1A1A"/>
                </a:solidFill>
                <a:latin typeface="Calibri"/>
              </a:defRPr>
            </a:pPr>
            <a:r>
              <a:t>Regression</a:t>
            </a:r>
          </a:p>
          <a:p>
            <a:pPr algn="ctr">
              <a:defRPr sz="1200" b="0">
                <a:solidFill>
                  <a:srgbClr val="1A1A1A"/>
                </a:solidFill>
                <a:latin typeface="Calibri"/>
              </a:defRPr>
            </a:pPr>
            <a:r>
              <a:t>Head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4480560"/>
            <a:ext cx="274320" cy="0"/>
          </a:xfrm>
          <a:prstGeom prst="line">
            <a:avLst/>
          </a:prstGeom>
          <a:ln w="190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63440" y="4480560"/>
            <a:ext cx="365760" cy="0"/>
          </a:xfrm>
          <a:prstGeom prst="line">
            <a:avLst/>
          </a:prstGeom>
          <a:ln w="190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480560"/>
            <a:ext cx="365760" cy="0"/>
          </a:xfrm>
          <a:prstGeom prst="line">
            <a:avLst/>
          </a:prstGeom>
          <a:ln w="190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3200" y="5212080"/>
            <a:ext cx="1737360" cy="6400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latin typeface="Calibri"/>
              </a:defRPr>
            </a:pPr>
            <a:r>
              <a:t>cell_information</a:t>
            </a:r>
          </a:p>
          <a:p>
            <a:pPr algn="ctr">
              <a:defRPr sz="1000">
                <a:solidFill>
                  <a:srgbClr val="777777"/>
                </a:solidFill>
                <a:latin typeface="Calibri"/>
              </a:defRPr>
            </a:pPr>
            <a:r>
              <a:t>(N, 4) per node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611880" y="5029200"/>
            <a:ext cx="0" cy="182880"/>
          </a:xfrm>
          <a:prstGeom prst="line">
            <a:avLst/>
          </a:prstGeom>
          <a:ln w="1905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4632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Calibri"/>
              </a:defRPr>
            </a:pPr>
            <a:r>
              <a:t>only this box changes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315200" y="1097280"/>
          <a:ext cx="4389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GIN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Gate GIN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Normalization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RMSNorm(256)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Message passing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GINConv: sum all</a:t>
                      </a:r>
                    </a:p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neighbors equally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CellConditionedConv:</a:t>
                      </a:r>
                    </a:p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per-edge gating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Pooling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global_add_pool</a:t>
                      </a:r>
                    </a:p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tumor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Regression head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256 -&gt; 128 -&gt; 1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Same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New parameters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~200K (gate MLP</a:t>
                      </a:r>
                    </a:p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+ msg + update)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How the Gate Works: Per-Edge Message Modulation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60320"/>
            <a:ext cx="1463040" cy="1280160"/>
          </a:xfrm>
          <a:prstGeom prst="roundRect">
            <a:avLst/>
          </a:prstGeom>
          <a:solidFill>
            <a:srgbClr val="FCE4E4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latin typeface="Calibri"/>
              </a:defRPr>
            </a:pPr>
            <a:r>
              <a:t>Tumor patch (v)</a:t>
            </a:r>
          </a:p>
          <a:p>
            <a:pPr algn="ctr">
              <a:defRPr sz="1000">
                <a:solidFill>
                  <a:srgbClr val="777777"/>
                </a:solidFill>
                <a:latin typeface="Calibri"/>
              </a:defRPr>
            </a:pPr>
            <a:r>
              <a:t>h(v) = 256-dim</a:t>
            </a:r>
          </a:p>
          <a:p>
            <a:pPr algn="ctr">
              <a:defRPr sz="1000">
                <a:solidFill>
                  <a:srgbClr val="C0392B"/>
                </a:solidFill>
                <a:latin typeface="Calibri"/>
              </a:defRPr>
            </a:pPr>
            <a:r>
              <a:t>cell(v) = [120, 3, 8, 0]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1463040" cy="1280160"/>
          </a:xfrm>
          <a:prstGeom prst="roundRect">
            <a:avLst/>
          </a:prstGeom>
          <a:solidFill>
            <a:srgbClr val="E0EEF7"/>
          </a:solidFill>
          <a:ln w="127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latin typeface="Calibri"/>
              </a:defRPr>
            </a:pPr>
            <a:r>
              <a:t>NNP patch (u)</a:t>
            </a:r>
          </a:p>
          <a:p>
            <a:pPr algn="ctr">
              <a:defRPr sz="1000">
                <a:solidFill>
                  <a:srgbClr val="777777"/>
                </a:solidFill>
                <a:latin typeface="Calibri"/>
              </a:defRPr>
            </a:pPr>
            <a:r>
              <a:t>h(u) = 256-dim</a:t>
            </a:r>
          </a:p>
          <a:p>
            <a:pPr algn="ctr">
              <a:defRPr sz="1000">
                <a:solidFill>
                  <a:srgbClr val="2980B9"/>
                </a:solidFill>
                <a:latin typeface="Calibri"/>
              </a:defRPr>
            </a:pPr>
            <a:r>
              <a:t>cell(u) = [2, 45, 12, 0]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63040" y="2194560"/>
            <a:ext cx="0" cy="365760"/>
          </a:xfrm>
          <a:prstGeom prst="line">
            <a:avLst/>
          </a:prstGeom>
          <a:ln w="254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926080" y="914400"/>
            <a:ext cx="3840480" cy="10058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960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Step 1: Concatenate cell compositions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cell_pair = [ cell(u) || cell(v) ]</a:t>
            </a:r>
          </a:p>
          <a:p>
            <a:pPr>
              <a:spcAft>
                <a:spcPts val="40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= [ 2, 45, 12, 0,  120, 3, 8, 0 ]      (8-dim vector)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103120"/>
            <a:ext cx="3840480" cy="11887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14884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Step 2: Compute gate (learned)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gate = sigmoid( MLP( cell_pair ) )</a:t>
            </a:r>
          </a:p>
          <a:p>
            <a:pPr>
              <a:spcAft>
                <a:spcPts val="4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MLP: Linear(8, 256) -&gt; ReLU -&gt; Linear(256, 256) -&gt; Sigmoid</a:t>
            </a:r>
          </a:p>
          <a:p>
            <a:pPr>
              <a:spcAft>
                <a:spcPts val="40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= 256 values, each in [0, 1]  (per-channel on/off)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3474720"/>
            <a:ext cx="3840480" cy="10058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352044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Step 3: Gate the message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msg = Linear( h(u) ) * gate</a:t>
            </a:r>
          </a:p>
          <a:p>
            <a:pPr>
              <a:spcAft>
                <a:spcPts val="40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Element-wise: 256-dim message modulated by 256-dim 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4663440"/>
            <a:ext cx="3840480" cy="11887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47091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Step 4: Aggregate all neighbors + Update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agg = SUM[ gated messages from all neighbors ]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new_h(v) = MLP_update( [ h(v) || agg ] ) + h(v)</a:t>
            </a:r>
          </a:p>
          <a:p>
            <a:pPr>
              <a:spcAft>
                <a:spcPts val="40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512-dim -&gt; 256-dim + residual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914400"/>
            <a:ext cx="4389120" cy="493776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1005840"/>
            <a:ext cx="4023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Biological Interpretation</a:t>
            </a:r>
          </a:p>
          <a:p>
            <a:pPr>
              <a:spcAft>
                <a:spcPts val="400"/>
              </a:spcAft>
              <a:defRPr sz="8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The gate learns WHICH cell interactions</a:t>
            </a:r>
          </a:p>
          <a:p>
            <a:pPr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matter for infiltration scoring:</a:t>
            </a:r>
          </a:p>
          <a:p>
            <a:pPr>
              <a:spcAft>
                <a:spcPts val="400"/>
              </a:spcAft>
              <a:defRPr sz="8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High gate (pass message through):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Immune-rich NNP next to tumor-dense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patch = active infiltration signal.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The model should pay attention to this.</a:t>
            </a:r>
          </a:p>
          <a:p>
            <a:pPr>
              <a:spcAft>
                <a:spcPts val="400"/>
              </a:spcAft>
              <a:defRPr sz="8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Low gate (dampen message):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Cell-sparse connective patch next to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tumor = less informative boundary.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The model can safely ignore this.</a:t>
            </a:r>
          </a:p>
          <a:p>
            <a:pPr>
              <a:spcAft>
                <a:spcPts val="400"/>
              </a:spcAft>
              <a:defRPr sz="8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Key difference from base GIN: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Base GIN: all neighbors weighted equally.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Gate GIN: neighbors weighted by their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cell composition relative to the target.</a:t>
            </a:r>
          </a:p>
          <a:p>
            <a:pPr>
              <a:spcAft>
                <a:spcPts val="400"/>
              </a:spcAft>
              <a:defRPr sz="8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In base GIN:</a:t>
            </a:r>
          </a:p>
          <a:p>
            <a:pPr>
              <a:spcAft>
                <a:spcPts val="40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  new_h(v) = MLP( h(v) + SUM[h(u)] )</a:t>
            </a:r>
          </a:p>
          <a:p>
            <a:pPr>
              <a:spcAft>
                <a:spcPts val="40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In gate GIN:</a:t>
            </a:r>
          </a:p>
          <a:p>
            <a:pPr>
              <a:spcAft>
                <a:spcPts val="400"/>
              </a:spcAft>
              <a:defRPr sz="1100" b="0">
                <a:solidFill>
                  <a:srgbClr val="777777"/>
                </a:solidFill>
                <a:latin typeface="Calibri"/>
              </a:defRPr>
            </a:pPr>
            <a:r>
              <a:t>  new_h(v) = MLP( h(v) || SUM[msg(u)*gate(u,v)] 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Handling Missing Data &amp; Experiment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03520" cy="2560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Missing Cell Data Strategy</a:t>
            </a:r>
          </a:p>
          <a:p>
            <a:pPr>
              <a:spcAft>
                <a:spcPts val="40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67 / 251 graphs (27%) have no cell counts.</a:t>
            </a:r>
          </a:p>
          <a:p>
            <a:pPr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These get zero-filled: cell(v) = [0, 0, 0, 0]</a:t>
            </a:r>
          </a:p>
          <a:p>
            <a:pPr>
              <a:spcAft>
                <a:spcPts val="40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What happens with zeros in the gate:</a:t>
            </a:r>
          </a:p>
          <a:p>
            <a:pPr>
              <a:spcAft>
                <a:spcPts val="400"/>
              </a:spcAft>
              <a:defRPr sz="1200" b="0">
                <a:solidFill>
                  <a:srgbClr val="777777"/>
                </a:solidFill>
                <a:latin typeface="Calibri"/>
              </a:defRPr>
            </a:pPr>
            <a:r>
              <a:t>cell_pair = [0,0,0,0, 0,0,0,0]  (all zeros)</a:t>
            </a:r>
          </a:p>
          <a:p>
            <a:pPr>
              <a:spcAft>
                <a:spcPts val="400"/>
              </a:spcAft>
              <a:defRPr sz="1200" b="0">
                <a:solidFill>
                  <a:srgbClr val="777777"/>
                </a:solidFill>
                <a:latin typeface="Calibri"/>
              </a:defRPr>
            </a:pPr>
            <a:r>
              <a:t>gate = sigmoid(MLP([0,...,0]))</a:t>
            </a:r>
          </a:p>
          <a:p>
            <a:pPr>
              <a:spcAft>
                <a:spcPts val="40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The gate learns a default pass-through behavior</a:t>
            </a:r>
          </a:p>
          <a:p>
            <a:pPr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for zero inputs, effectively falling back to the</a:t>
            </a:r>
          </a:p>
          <a:p>
            <a:pPr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base GIN behavior for those patches.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303520" cy="25603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Experiment Setup</a:t>
            </a:r>
          </a:p>
          <a:p>
            <a:pPr>
              <a:spcAft>
                <a:spcPts val="40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Same as base GIN evaluation:</a:t>
            </a:r>
          </a:p>
          <a:p>
            <a:pPr>
              <a:spcAft>
                <a:spcPts val="40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  4-fold CV (s1-s4 rotate test/val, s5 = train)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  5 seeds per fold = 20 training runs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  1 GIN layer, radius = 3 (best config)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  Huber loss (delta = 2), AdamW, lr = 1e-4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  Early stopping patience = 15</a:t>
            </a: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  Patient-level IPS evaluation</a:t>
            </a:r>
          </a:p>
          <a:p>
            <a:pPr>
              <a:spcAft>
                <a:spcPts val="40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Only change: GINConv -&gt; CellConditionedConv</a:t>
            </a:r>
          </a:p>
          <a:p>
            <a:pPr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Everything else is identical.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14800"/>
            <a:ext cx="10972800" cy="2286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What We Expect</a:t>
            </a:r>
          </a:p>
          <a:p>
            <a:pPr>
              <a:spcAft>
                <a:spcPts val="40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0">
                <a:solidFill>
                  <a:srgbClr val="444444"/>
                </a:solidFill>
                <a:latin typeface="Calibri"/>
              </a:defRPr>
            </a:pPr>
            <a:r>
              <a:t>Hypothesis: cell composition at the tumor-NNP boundary is informative for infiltration grading.</a:t>
            </a:r>
          </a:p>
          <a:p>
            <a:pPr>
              <a:spcAft>
                <a:spcPts val="40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Higher-grade tumors (4-5) show irregular boundaries with immune cell infiltration into the tumor.</a:t>
            </a:r>
          </a:p>
          <a:p>
            <a:pPr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Lower-grade tumors (1-2) have clean borders with few immune cells crossing the boundary.</a:t>
            </a:r>
          </a:p>
          <a:p>
            <a:pPr>
              <a:spcAft>
                <a:spcPts val="400"/>
              </a:spcAft>
              <a:defRPr sz="1300" b="0">
                <a:solidFill>
                  <a:srgbClr val="444444"/>
                </a:solidFill>
                <a:latin typeface="Calibri"/>
              </a:defRPr>
            </a:pPr>
            <a:r>
              <a:t>The gate mechanism lets the model distinguish between these patterns at each edge.</a:t>
            </a:r>
          </a:p>
          <a:p>
            <a:pPr>
              <a:spcAft>
                <a:spcPts val="40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Target to beat: Base bipartite GIN at 70.7% macro F1, 69.1 QWK (Ozates thesis, Table 5.5)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1A"/>
                </a:solidFill>
                <a:latin typeface="Calibri"/>
              </a:defRPr>
            </a:pPr>
            <a:r>
              <a:t>Results: Gate vs Baseline (20 runs each, 4 folds x 5 seeds)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7040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01168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GIN (none)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Cell Gate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Macro F1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64.45 +/- 8.43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60.32 +/- 9.51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-4.13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Weighted F1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68.50 +/- 7.65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64.16 +/- 9.98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-4.34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QWK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67.86 +/- 8.59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59.16 +/- 11.45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-8.70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F1 IPS-A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57.32 +/- 14.45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51.37 +/- 12.47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-5.95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F1 IPS-B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54.95 +/- 10.50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53.98 +/- 12.95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-0.97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F1 IPS-C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81.09 +/- 7.99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75.62 +/- 9.95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-5.47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44444"/>
                </a:solidFill>
                <a:latin typeface="Calibri"/>
              </a:defRPr>
            </a:pPr>
            <a:r>
              <a:t>Per-Fold Macro F1 (gate)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438912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1097280"/>
                <a:gridCol w="1097280"/>
                <a:gridCol w="1097280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Fold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Seed 42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Seed 128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Seed 777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Seed 1234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Seed 5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Fold Avg</a:t>
                      </a:r>
                    </a:p>
                  </a:txBody>
                  <a:tcPr anchor="ctr">
                    <a:solidFill>
                      <a:srgbClr val="333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Fold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80.08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62.30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63.85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84.71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68.19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Fold 1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51.94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51.10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65.75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55.16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58.33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56.46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Fold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65.56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65.56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65.56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56.72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65.56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63.79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Fold 3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46.65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57.94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55.91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49.84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53.95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52.86</a:t>
                      </a:r>
                    </a:p>
                  </a:txBody>
                  <a:tcPr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03920" y="1188720"/>
            <a:ext cx="3200400" cy="29260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2801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Analysis</a:t>
            </a:r>
          </a:p>
          <a:p>
            <a:pPr>
              <a:spcAft>
                <a:spcPts val="40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C0392B"/>
                </a:solidFill>
                <a:latin typeface="Calibri"/>
              </a:defRPr>
            </a:pPr>
            <a:r>
              <a:t>Gate performs worse than baseline</a:t>
            </a:r>
          </a:p>
          <a:p>
            <a:pPr>
              <a:spcAft>
                <a:spcPts val="400"/>
              </a:spcAft>
              <a:defRPr sz="1300" b="0">
                <a:solidFill>
                  <a:srgbClr val="C0392B"/>
                </a:solidFill>
                <a:latin typeface="Calibri"/>
              </a:defRPr>
            </a:pPr>
            <a:r>
              <a:t>across all metrics.</a:t>
            </a:r>
          </a:p>
          <a:p>
            <a:pPr>
              <a:spcAft>
                <a:spcPts val="400"/>
              </a:spcAft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Possible reasons:</a:t>
            </a:r>
          </a:p>
          <a:p>
            <a:pPr>
              <a:spcAft>
                <a:spcPts val="40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1. 27% missing cell data (zeros)</a:t>
            </a:r>
          </a:p>
          <a:p>
            <a:pPr>
              <a:spcAft>
                <a:spcPts val="400"/>
              </a:spcAft>
              <a:defRPr sz="1200" b="0">
                <a:solidFill>
                  <a:srgbClr val="777777"/>
                </a:solidFill>
                <a:latin typeface="Calibri"/>
              </a:defRPr>
            </a:pPr>
            <a:r>
              <a:t>   adds noise to gate learning</a:t>
            </a:r>
          </a:p>
          <a:p>
            <a:pPr>
              <a:spcAft>
                <a:spcPts val="40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2. Only 20 runs (5 seeds) — high</a:t>
            </a:r>
          </a:p>
          <a:p>
            <a:pPr>
              <a:spcAft>
                <a:spcPts val="400"/>
              </a:spcAft>
              <a:defRPr sz="1200" b="0">
                <a:solidFill>
                  <a:srgbClr val="777777"/>
                </a:solidFill>
                <a:latin typeface="Calibri"/>
              </a:defRPr>
            </a:pPr>
            <a:r>
              <a:t>   variance, need 25 seeds</a:t>
            </a:r>
          </a:p>
          <a:p>
            <a:pPr>
              <a:spcAft>
                <a:spcPts val="40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3. ~200K extra parameters may</a:t>
            </a:r>
          </a:p>
          <a:p>
            <a:pPr>
              <a:spcAft>
                <a:spcPts val="400"/>
              </a:spcAft>
              <a:defRPr sz="1200" b="0">
                <a:solidFill>
                  <a:srgbClr val="777777"/>
                </a:solidFill>
                <a:latin typeface="Calibri"/>
              </a:defRPr>
            </a:pPr>
            <a:r>
              <a:t>   overfit on small dataset</a:t>
            </a:r>
          </a:p>
          <a:p>
            <a:pPr>
              <a:spcAft>
                <a:spcPts val="400"/>
              </a:spcAft>
              <a:defRPr sz="400" b="0">
                <a:solidFill>
                  <a:srgbClr val="1A1A1A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 b="0">
                <a:solidFill>
                  <a:srgbClr val="444444"/>
                </a:solidFill>
                <a:latin typeface="Calibri"/>
              </a:defRPr>
            </a:pPr>
            <a:r>
              <a:t>4. Cell counts may not add signal</a:t>
            </a:r>
          </a:p>
          <a:p>
            <a:pPr>
              <a:spcAft>
                <a:spcPts val="400"/>
              </a:spcAft>
              <a:defRPr sz="1200" b="0">
                <a:solidFill>
                  <a:srgbClr val="777777"/>
                </a:solidFill>
                <a:latin typeface="Calibri"/>
              </a:defRPr>
            </a:pPr>
            <a:r>
              <a:t>   beyond what VirChow2 already</a:t>
            </a:r>
          </a:p>
          <a:p>
            <a:pPr>
              <a:spcAft>
                <a:spcPts val="400"/>
              </a:spcAft>
              <a:defRPr sz="1200" b="0">
                <a:solidFill>
                  <a:srgbClr val="777777"/>
                </a:solidFill>
                <a:latin typeface="Calibri"/>
              </a:defRPr>
            </a:pPr>
            <a:r>
              <a:t>   captures in the 256-d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