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0"/>
  </p:normalViewPr>
  <p:slideViewPr>
    <p:cSldViewPr snapToGrid="0" snapToObjects="1">
      <p:cViewPr varScale="1">
        <p:scale>
          <a:sx n="154" d="100"/>
          <a:sy n="154" d="100"/>
        </p:scale>
        <p:origin x="27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1A"/>
                </a:solidFill>
                <a:latin typeface="Calibri"/>
              </a:defRPr>
            </a:pPr>
            <a:r>
              <a:t>Context-Aware Graph Neural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651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1A1A"/>
                </a:solidFill>
                <a:latin typeface="Calibri"/>
              </a:defRPr>
            </a:pPr>
            <a:r>
              <a:t>for PanNET Infiltration Pattern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66"/>
                </a:solidFill>
                <a:latin typeface="Calibri"/>
              </a:defRPr>
            </a:pPr>
            <a:r>
              <a:t>End-to-End Pipeline: WSI → Bipartite GNN → Patient-Level IPS Prediction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846320"/>
            <a:ext cx="1828800" cy="8229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1</a:t>
            </a:r>
            <a:br/>
            <a:r>
              <a:t>WSI → Patches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246120" y="4846320"/>
            <a:ext cx="1828800" cy="822960"/>
          </a:xfrm>
          <a:prstGeom prst="roundRect">
            <a:avLst/>
          </a:prstGeom>
          <a:solidFill>
            <a:srgbClr val="7D3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2</a:t>
            </a:r>
            <a:br/>
            <a:r>
              <a:t>AutoEncoder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7492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94960" y="4846320"/>
            <a:ext cx="1828800" cy="8229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3</a:t>
            </a:r>
            <a:br/>
            <a:r>
              <a:t>Graph Build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22376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43800" y="4846320"/>
            <a:ext cx="1828800" cy="82296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4</a:t>
            </a:r>
            <a:br/>
            <a:r>
              <a:t>Cache (.pkl)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5120640"/>
            <a:ext cx="32004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92640" y="4846320"/>
            <a:ext cx="182880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Stage 5</a:t>
            </a:r>
            <a:br/>
            <a:r>
              <a:t>GIN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Medical Background: PanNET Infiltration Pattern 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66"/>
                </a:solidFill>
                <a:latin typeface="Calibri"/>
              </a:defRPr>
            </a:pPr>
            <a:r>
              <a:t>How pathologists grade tumor infiltration at the tumor–NNP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09728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3716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Fully demarcated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716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Round/capsulated tumor, clean boundary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1097280" cy="5029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11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Mildly irregular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Early capsular penetration, clusters attached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51760"/>
            <a:ext cx="1097280" cy="50292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6517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Satellite/projections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517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Large nodules, connected to main mass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097280" cy="50292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918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Peri-tumoral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918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Small clusters nearby, no distant invasion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09728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Grade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9319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Non-demarcated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Prominent infiltration, clusters far from tumor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Calibri"/>
              </a:defRPr>
            </a:pPr>
            <a:r>
              <a:t>Patient-Level 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Sum grades from 3 representative WSIs: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246888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IPS-A  |  Sum ∈ [3, 6]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t>Non/minimally infiltrative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324612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IPS-B  |  Sum ∈ [7, 9]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t>Moderately infiltrative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4023360"/>
            <a:ext cx="320040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IPS-C  |  Sum ∈ [10, 15]</a:t>
            </a:r>
          </a:p>
          <a:p>
            <a:pPr>
              <a:defRPr sz="1100">
                <a:solidFill>
                  <a:srgbClr val="555566"/>
                </a:solidFill>
              </a:defRPr>
            </a:pPr>
            <a:r>
              <a:t>Highly infiltrative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D35400"/>
                </a:solidFill>
              </a:defRPr>
            </a:pPr>
            <a:r>
              <a:t>KEY INSIGHT</a:t>
            </a:r>
          </a:p>
          <a:p>
            <a:pPr>
              <a:defRPr sz="1300">
                <a:solidFill>
                  <a:srgbClr val="1A1A1A"/>
                </a:solidFill>
              </a:defRPr>
            </a:pPr>
            <a:r>
              <a:t>Infiltration is a SPATIAL property — it depends on HOW tumor interacts with surrounding tissue (NNP), not just what tumor cells look like individually. This is why GNNs are needed: they model spatial relationships between tissue patches.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End-to-End 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WSI</a:t>
            </a:r>
            <a:br/>
            <a:r>
              <a:t>(.tiff)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100K×100K px</a:t>
            </a:r>
            <a:br/>
            <a:r>
              <a:t>H&amp;E stained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8600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6032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Tissue</a:t>
            </a:r>
            <a:br/>
            <a:r>
              <a:t>Segmentation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GrandQC</a:t>
            </a:r>
            <a:br/>
            <a:r>
              <a:t>≥60% tissue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48056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Patch</a:t>
            </a:r>
            <a:br/>
            <a:r>
              <a:t>Extraction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1024×1024 px</a:t>
            </a:r>
            <a:br/>
            <a:r>
              <a:t>@ 40x mag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512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94944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VirChow2</a:t>
            </a:r>
            <a:br/>
            <a:r>
              <a:t>Encoder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Foundation model</a:t>
            </a:r>
            <a:br/>
            <a:r>
              <a:t>→ 1280-d vector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69680" y="16002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44000" y="11887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H5 File</a:t>
            </a:r>
            <a:br/>
            <a:r>
              <a:t>Output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features (N,1280)</a:t>
            </a:r>
            <a:br/>
            <a:r>
              <a:t>coords (N,2)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914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80B9"/>
                </a:solidFill>
                <a:latin typeface="Calibri"/>
              </a:defRPr>
            </a:pPr>
            <a:r>
              <a:t>STAGE 1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760720" y="2377440"/>
            <a:ext cx="365760" cy="36576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D3C98"/>
                </a:solidFill>
                <a:latin typeface="Calibri"/>
              </a:defRPr>
            </a:pPr>
            <a:r>
              <a:t>STAGE 2 + 3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AutoEncoder</a:t>
            </a:r>
            <a:br/>
            <a:r>
              <a:t>(frozen)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1280 → 768 → 512</a:t>
            </a:r>
            <a:br/>
            <a:r>
              <a:t>→ 256-d latent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28600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56032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Patch</a:t>
            </a:r>
            <a:br/>
            <a:r>
              <a:t>Classifier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3-class MLP</a:t>
            </a:r>
            <a:br/>
            <a:r>
              <a:t>Stroma/PanNET/Normal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8056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75488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Border</a:t>
            </a:r>
            <a:br/>
            <a:r>
              <a:t>Detection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8-connected check</a:t>
            </a:r>
            <a:br/>
            <a:r>
              <a:t>+ NNP neighbors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67512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94944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Bipartite</a:t>
            </a:r>
            <a:br/>
            <a:r>
              <a:t>Graph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PanNET ↔ NNP edges</a:t>
            </a:r>
            <a:br/>
            <a:r>
              <a:t>Chebyshev dist ≤ 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69680" y="34290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44000" y="30175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Cache</a:t>
            </a:r>
            <a:br/>
            <a:r>
              <a:t>as .pkl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PyG Data objects</a:t>
            </a:r>
            <a:br/>
            <a:r>
              <a:t>node + edge attrs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760720" y="4206240"/>
            <a:ext cx="365760" cy="365760"/>
          </a:xfrm>
          <a:prstGeom prst="down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STAGE 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GIN</a:t>
            </a:r>
            <a:br/>
            <a:r>
              <a:t>Message Passing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Sum aggregation</a:t>
            </a:r>
            <a:br/>
            <a:r>
              <a:t>+ residual connections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28600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56032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PanNET-Only</a:t>
            </a:r>
            <a:br/>
            <a:r>
              <a:t>Pooling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global_add_pool</a:t>
            </a:r>
            <a:br/>
            <a:r>
              <a:t>tumor nodes only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48056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75488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Regression</a:t>
            </a:r>
            <a:br/>
            <a:r>
              <a:t>Head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MLP → single grade</a:t>
            </a:r>
            <a:br/>
            <a:r>
              <a:t>Huber loss (δ=2)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67512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94944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Patient</a:t>
            </a:r>
            <a:br/>
            <a:r>
              <a:t>Aggregation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3 slides → sum</a:t>
            </a:r>
            <a:br/>
            <a:r>
              <a:t>→ IPS (A/B/C)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869680" y="525780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144000" y="4846320"/>
            <a:ext cx="1920240" cy="11887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Evaluation</a:t>
            </a:r>
            <a:br/>
            <a:r>
              <a:t>Metrics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F1, QWK, MAE</a:t>
            </a:r>
            <a:br/>
            <a:r>
              <a:t>4-fold × 25 seeds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Stage 1: WSI → Feature Extraction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200400" cy="22860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Whole Slide 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170432" y="182880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700784" y="182880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231136" y="182880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61488" y="182880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170432" y="219456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700784" y="219456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231136" y="219456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61488" y="219456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0080" y="2560320"/>
            <a:ext cx="457200" cy="29260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170432" y="256032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700784" y="256032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231136" y="256032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761488" y="256032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292608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70432" y="2926080"/>
            <a:ext cx="457200" cy="29260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700784" y="2926080"/>
            <a:ext cx="457200" cy="292608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231136" y="2926080"/>
            <a:ext cx="45720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61488" y="2926080"/>
            <a:ext cx="457200" cy="292608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57200" y="3749039"/>
            <a:ext cx="228600" cy="2286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alibri"/>
              </a:defRPr>
            </a:pPr>
            <a:r>
              <a:t>PanNET</a:t>
            </a:r>
          </a:p>
        </p:txBody>
      </p:sp>
      <p:sp>
        <p:nvSpPr>
          <p:cNvPr id="26" name="Oval 25"/>
          <p:cNvSpPr/>
          <p:nvPr/>
        </p:nvSpPr>
        <p:spPr>
          <a:xfrm>
            <a:off x="1554480" y="3749039"/>
            <a:ext cx="228600" cy="2286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82880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0392B"/>
                </a:solidFill>
                <a:latin typeface="Calibri"/>
              </a:defRPr>
            </a:pPr>
            <a:r>
              <a:t>Stroma</a:t>
            </a:r>
          </a:p>
        </p:txBody>
      </p:sp>
      <p:sp>
        <p:nvSpPr>
          <p:cNvPr id="28" name="Oval 27"/>
          <p:cNvSpPr/>
          <p:nvPr/>
        </p:nvSpPr>
        <p:spPr>
          <a:xfrm>
            <a:off x="2560320" y="3749039"/>
            <a:ext cx="228600" cy="22860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834640" y="37490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980B9"/>
                </a:solidFill>
                <a:latin typeface="Calibri"/>
              </a:defRPr>
            </a:pPr>
            <a:r>
              <a:t>Normal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840480" y="2103120"/>
            <a:ext cx="64008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663440" y="1188720"/>
            <a:ext cx="2926080" cy="27432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7D3C98"/>
                </a:solidFill>
              </a:defRPr>
            </a:pPr>
            <a:r>
              <a:t>VirChow2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r>
              <a:t>Foundation Model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Pre-trained on millions</a:t>
            </a:r>
            <a:br/>
            <a:r>
              <a:t>of pathology images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endParaRPr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Input: 1024×1024×3 patch</a:t>
            </a:r>
          </a:p>
          <a:p>
            <a:pPr algn="ctr">
              <a:defRPr sz="1100">
                <a:solidFill>
                  <a:srgbClr val="27AE60"/>
                </a:solidFill>
              </a:defRPr>
            </a:pPr>
            <a:r>
              <a:t>Output: 1280-d vector</a:t>
            </a:r>
          </a:p>
          <a:p>
            <a:pPr algn="ctr">
              <a:defRPr sz="1100">
                <a:solidFill>
                  <a:srgbClr val="1A1A1A"/>
                </a:solidFill>
              </a:defRPr>
            </a:pPr>
            <a:endParaRPr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Captures: cell morphology,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tissue structure, staining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772400" y="2103120"/>
            <a:ext cx="64008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595360" y="1188720"/>
            <a:ext cx="3108960" cy="27432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7AE60"/>
                </a:solidFill>
              </a:defRPr>
            </a:pPr>
            <a:r>
              <a:t>H5 File (per slide)</a:t>
            </a:r>
          </a:p>
          <a:p>
            <a:pPr algn="l">
              <a:defRPr sz="1100">
                <a:solidFill>
                  <a:srgbClr val="27AE60"/>
                </a:solidFill>
                <a:latin typeface="Consolas"/>
              </a:defRPr>
            </a:pPr>
            <a:r>
              <a:t>features     (N, 1280)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t>coords       (N, 2)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t>patch_classes (N,)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r>
              <a:t>tissue_id    (N,)</a:t>
            </a:r>
          </a:p>
          <a:p>
            <a:pPr algn="l">
              <a:defRPr sz="1100">
                <a:solidFill>
                  <a:srgbClr val="555566"/>
                </a:solidFill>
                <a:latin typeface="Consolas"/>
              </a:defRPr>
            </a:pPr>
            <a:r>
              <a:t>slide_width  scalar</a:t>
            </a:r>
          </a:p>
          <a:p>
            <a:pPr algn="l">
              <a:defRPr sz="1100">
                <a:solidFill>
                  <a:srgbClr val="555566"/>
                </a:solidFill>
                <a:latin typeface="Consolas"/>
              </a:defRPr>
            </a:pPr>
            <a:r>
              <a:t>slide_height scalar</a:t>
            </a:r>
          </a:p>
          <a:p>
            <a:pPr algn="l">
              <a:defRPr sz="1100">
                <a:solidFill>
                  <a:srgbClr val="1A1A1A"/>
                </a:solidFill>
                <a:latin typeface="Consolas"/>
              </a:defRPr>
            </a:pPr>
            <a:endParaRPr/>
          </a:p>
          <a:p>
            <a:pPr algn="l">
              <a:defRPr sz="1100">
                <a:solidFill>
                  <a:srgbClr val="D35400"/>
                </a:solidFill>
                <a:latin typeface="Consolas"/>
              </a:defRPr>
            </a:pPr>
            <a:r>
              <a:t>252 slides → 252 H5 files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297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40x magnification  |  1024×1024 px patches  |  ≥60% tissue threshold  |  GrandQC segmentation</a:t>
            </a:r>
          </a:p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Patch classifier: MLP (2560→256→128→3)  —  F1: PanNET 97.2%, Normal 96.2%, Stroma 90.9%</a:t>
            </a:r>
          </a:p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3 = RGB color channels (Red, Green, Blue per pixel)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Stage 2: AutoEncoder — Feature Compression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66"/>
                </a:solidFill>
                <a:latin typeface="Calibri"/>
              </a:defRPr>
            </a:pPr>
            <a:r>
              <a:t>Why? 1280-d features → overfitting on small dataset (73 patients). Compress to 256-d.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88920"/>
            <a:ext cx="1188720" cy="13716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1280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Input</a:t>
            </a:r>
            <a:br/>
            <a:r>
              <a:t>(VirChow2)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920240" y="338328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057400" y="2926080"/>
            <a:ext cx="11887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768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338328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383280" y="3063240"/>
            <a:ext cx="1188720" cy="82296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512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572000" y="3383280"/>
            <a:ext cx="137160" cy="182880"/>
          </a:xfrm>
          <a:prstGeom prst="rightArrow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09160" y="3154680"/>
            <a:ext cx="1188720" cy="640080"/>
          </a:xfrm>
          <a:prstGeom prst="roundRect">
            <a:avLst/>
          </a:prstGeom>
          <a:solidFill>
            <a:srgbClr val="27AE60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256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6974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Latent</a:t>
            </a:r>
            <a:br/>
            <a:r>
              <a:t>(keep this)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97880" y="338328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035040" y="3063240"/>
            <a:ext cx="1188720" cy="82296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512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223760" y="338328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60920" y="2926080"/>
            <a:ext cx="1188720" cy="10972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768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549640" y="3383280"/>
            <a:ext cx="137160" cy="18288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686800" y="2788920"/>
            <a:ext cx="1188720" cy="13716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1A1A1A"/>
                </a:solidFill>
              </a:defRPr>
            </a:pPr>
            <a:r>
              <a:t>1280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3317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1A1A"/>
                </a:solidFill>
                <a:latin typeface="Calibri"/>
              </a:defRPr>
            </a:pPr>
            <a:r>
              <a:t>Reconstruction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D3C98"/>
                </a:solidFill>
                <a:latin typeface="Calibri"/>
              </a:defRPr>
            </a:pPr>
            <a:r>
              <a:t>◄─── ENCODER ───►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F8C8D"/>
                </a:solidFill>
                <a:latin typeface="Calibri"/>
              </a:defRPr>
            </a:pPr>
            <a:r>
              <a:t>◄─── DECODER ───►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1371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Training Details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192024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Loss: MSE + variance reg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Optimizer: AdamW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LR: 1e-3, WD: 1e-4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Batch size: 4096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Epochs: 50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Early stopping: patience 10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Split: 90/10 by H5 file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Each layer: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Linear → RMSNorm → GELU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+ Dropout(0.2) in encoder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After training: FREEZE encoder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Use as fixed projector in GNN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Stage 3: Bipartite Graph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55566"/>
                </a:solidFill>
                <a:latin typeface="Calibri"/>
              </a:defRPr>
            </a:pPr>
            <a:r>
              <a:t>The core innovation: restrict edges to the tumor–NNP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1. Hole Filling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Fill gaps inside</a:t>
            </a:r>
            <a:br/>
            <a:r>
              <a:t>tumor regions</a:t>
            </a:r>
            <a:br/>
            <a:r>
              <a:t>(morphological)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77440" y="2011680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06040" y="1463040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2. Border Detection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Find PanNET patches</a:t>
            </a:r>
            <a:br/>
            <a:r>
              <a:t>with non-PanNET</a:t>
            </a:r>
            <a:br/>
            <a:r>
              <a:t>8-neighbors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617720" y="2011680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846320" y="1463040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3. NNP Inclusion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Include non-tumor</a:t>
            </a:r>
            <a:br/>
            <a:r>
              <a:t>patches within</a:t>
            </a:r>
            <a:br/>
            <a:r>
              <a:t>r hops of border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58000" y="2011680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086600" y="1463040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4. Bipartite Edges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Connect ONLY</a:t>
            </a:r>
            <a:br/>
            <a:r>
              <a:t>PanNET ↔ NNP</a:t>
            </a:r>
            <a:br/>
            <a:r>
              <a:t>(no same-class)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098280" y="2011680"/>
            <a:ext cx="22860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326880" y="1463040"/>
            <a:ext cx="2011680" cy="16459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1A1A1A"/>
                </a:solidFill>
              </a:defRPr>
            </a:pPr>
            <a:r>
              <a:t>5. Filter Components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Remove clusters</a:t>
            </a:r>
            <a:br/>
            <a:r>
              <a:t>&lt; threshold nodes</a:t>
            </a:r>
            <a:br/>
            <a:r>
              <a:t>(noise removal)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Full Graph (all edges)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Bipartite Graph (thesis approach)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16" name="Oval 15"/>
          <p:cNvSpPr/>
          <p:nvPr/>
        </p:nvSpPr>
        <p:spPr>
          <a:xfrm>
            <a:off x="1645920" y="4023360"/>
            <a:ext cx="365760" cy="3657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17" name="Oval 16"/>
          <p:cNvSpPr/>
          <p:nvPr/>
        </p:nvSpPr>
        <p:spPr>
          <a:xfrm>
            <a:off x="2377440" y="4023360"/>
            <a:ext cx="365760" cy="3657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4754880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19" name="Oval 18"/>
          <p:cNvSpPr/>
          <p:nvPr/>
        </p:nvSpPr>
        <p:spPr>
          <a:xfrm>
            <a:off x="1645920" y="4754880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20" name="Oval 19"/>
          <p:cNvSpPr/>
          <p:nvPr/>
        </p:nvSpPr>
        <p:spPr>
          <a:xfrm>
            <a:off x="2377440" y="4754880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0392B"/>
                </a:solidFill>
                <a:latin typeface="Calibri"/>
              </a:defRPr>
            </a:pPr>
            <a:r>
              <a:t>All edges: T↔T, S↔S, T↔S</a:t>
            </a:r>
            <a:br/>
            <a:r>
              <a:t>Noisy — wastes capacity on</a:t>
            </a:r>
            <a:br/>
            <a:r>
              <a:t>homogeneous interactions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0" y="4023360"/>
            <a:ext cx="365760" cy="3657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23" name="Oval 22"/>
          <p:cNvSpPr/>
          <p:nvPr/>
        </p:nvSpPr>
        <p:spPr>
          <a:xfrm>
            <a:off x="7589520" y="4023360"/>
            <a:ext cx="365760" cy="3657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24" name="Oval 23"/>
          <p:cNvSpPr/>
          <p:nvPr/>
        </p:nvSpPr>
        <p:spPr>
          <a:xfrm>
            <a:off x="8321040" y="4023360"/>
            <a:ext cx="365760" cy="3657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0" y="4754880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26" name="Oval 25"/>
          <p:cNvSpPr/>
          <p:nvPr/>
        </p:nvSpPr>
        <p:spPr>
          <a:xfrm>
            <a:off x="7589520" y="4754880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27" name="Oval 26"/>
          <p:cNvSpPr/>
          <p:nvPr/>
        </p:nvSpPr>
        <p:spPr>
          <a:xfrm>
            <a:off x="8321040" y="4754880"/>
            <a:ext cx="365760" cy="3657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303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7AE60"/>
                </a:solidFill>
                <a:latin typeface="Calibri"/>
              </a:defRPr>
            </a:pPr>
            <a:r>
              <a:t>Only T↔S edges</a:t>
            </a:r>
            <a:br/>
            <a:r>
              <a:t>Forces learning at the</a:t>
            </a:r>
            <a:br/>
            <a:r>
              <a:t>tumor–NNP interface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7AE60"/>
                </a:solidFill>
              </a:defRPr>
            </a:pPr>
            <a:r>
              <a:t>Thesis finding: Bipartite consistently outperforms Full Graph across all neighborhood radii (Table 5.5)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Graph Construction: Hop Distance (Radius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8 neighbors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6192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883664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231136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536192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883664" y="2267712"/>
            <a:ext cx="320040" cy="32004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231136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536192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883664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31136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24 neighbors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76672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724144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71616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19088" y="1920240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029200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376672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724144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071616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19088" y="2267712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29200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376672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724144" y="2615184"/>
            <a:ext cx="320040" cy="320040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71616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19088" y="2615184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029200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376672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724144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071616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19088" y="2962656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029200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376672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724144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071616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19088" y="3310128"/>
            <a:ext cx="32004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3816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r =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14630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55566"/>
                </a:solidFill>
                <a:latin typeface="Calibri"/>
              </a:defRPr>
            </a:pPr>
            <a:r>
              <a:t>48 neighbors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7824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905256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932688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960120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87552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1014984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10424160" y="19202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877824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05256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932688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960120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987552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1014984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10424160" y="21945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877824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05256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32688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60120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987552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14984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10424160" y="246888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877824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05256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932688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9601200" y="2743200"/>
            <a:ext cx="246888" cy="246888"/>
          </a:xfrm>
          <a:prstGeom prst="round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987552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1014984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10424160" y="274320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877824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905256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932688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960120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987552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1014984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424160" y="301752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877824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905256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932688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960120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87552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1014984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10424160" y="329184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877824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905256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32688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960120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987552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1014984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10424160" y="3566160"/>
            <a:ext cx="246888" cy="2468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2743200" y="5029200"/>
            <a:ext cx="228600" cy="228600"/>
          </a:xfrm>
          <a:prstGeom prst="ellipse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017520" y="5029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35400"/>
                </a:solidFill>
                <a:latin typeface="Calibri"/>
              </a:defRPr>
            </a:pPr>
            <a:r>
              <a:t>Center patch</a:t>
            </a:r>
          </a:p>
        </p:txBody>
      </p:sp>
      <p:sp>
        <p:nvSpPr>
          <p:cNvPr id="94" name="Oval 93"/>
          <p:cNvSpPr/>
          <p:nvPr/>
        </p:nvSpPr>
        <p:spPr>
          <a:xfrm>
            <a:off x="4572000" y="5029200"/>
            <a:ext cx="228600" cy="2286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846320" y="5029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7AE60"/>
                </a:solidFill>
                <a:latin typeface="Calibri"/>
              </a:defRPr>
            </a:pPr>
            <a:r>
              <a:t>Connected neighbor</a:t>
            </a:r>
          </a:p>
        </p:txBody>
      </p:sp>
      <p:sp>
        <p:nvSpPr>
          <p:cNvPr id="96" name="Oval 95"/>
          <p:cNvSpPr/>
          <p:nvPr/>
        </p:nvSpPr>
        <p:spPr>
          <a:xfrm>
            <a:off x="6858000" y="5029200"/>
            <a:ext cx="228600" cy="228600"/>
          </a:xfrm>
          <a:prstGeom prst="ellipse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132320" y="5029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Out of range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66"/>
                </a:solidFill>
                <a:latin typeface="Calibri"/>
              </a:defRPr>
            </a:pPr>
            <a:r>
              <a:t>Distance metric: Chebyshev (L∞) = max(|Δx|, |Δy|) / patch_size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7AE60"/>
                </a:solidFill>
              </a:defRPr>
            </a:pPr>
            <a:r>
              <a:t>Thesis finding: Larger radius r consistently improves performance. r=3 is optimal (Table 5.5)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Stage 5: GIN Model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280160"/>
            <a:ext cx="16459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Frozen</a:t>
            </a:r>
            <a:br/>
            <a:r>
              <a:t>Projector</a:t>
            </a:r>
          </a:p>
          <a:p>
            <a:br/>
            <a:r>
              <a:t>AE Encoder</a:t>
            </a:r>
            <a:br/>
            <a:r>
              <a:t>1280 → 256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920240" y="192024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194560" y="1280160"/>
            <a:ext cx="137160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RMSNorm</a:t>
            </a:r>
            <a:br/>
            <a:r>
              <a:t>(256)</a:t>
            </a:r>
          </a:p>
          <a:p>
            <a:br/>
            <a:r>
              <a:t>Normalize</a:t>
            </a:r>
            <a:br/>
            <a:r>
              <a:t>latent features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566160" y="192024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40480" y="1280160"/>
            <a:ext cx="201168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GINConv</a:t>
            </a:r>
            <a:br/>
            <a:r>
              <a:t>+ Residual</a:t>
            </a:r>
          </a:p>
          <a:p>
            <a:br/>
            <a:r>
              <a:t>MLP: 256→256→256</a:t>
            </a:r>
            <a:br/>
            <a:r>
              <a:t>Sum aggregation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52160" y="192024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16459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PanNET-Only</a:t>
            </a:r>
            <a:br/>
            <a:r>
              <a:t>Pooling</a:t>
            </a:r>
          </a:p>
          <a:p>
            <a:br/>
            <a:r>
              <a:t>global_add_pool</a:t>
            </a:r>
            <a:br/>
            <a:r>
              <a:t>over tumor nodes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72400" y="1920240"/>
            <a:ext cx="274320" cy="2286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16459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Regression</a:t>
            </a:r>
            <a:br/>
            <a:r>
              <a:t>Head</a:t>
            </a:r>
          </a:p>
          <a:p>
            <a:br/>
            <a:r>
              <a:t>256→128→1</a:t>
            </a:r>
            <a:br/>
            <a:r>
              <a:t>Huber loss (δ=2)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GINConv Layer Detail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h_v^(k) = MLP( (1+ε) · h_v^(k-1) + Σ h_u^(k-1) 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MLP: Linear(256,256) → RMSNorm → ReLU → Dropout(0.4)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    → Linear(256,256) → RMSNorm → ReLU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Residual: x = GINConv(dropout(x)) + x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Why SUM (not mean/max)?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Counts tumor-NNP contact points — more invasion = more interfaces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Model Parameters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D3C98"/>
                </a:solidFill>
                <a:latin typeface="Calibri"/>
              </a:defRPr>
            </a:pPr>
            <a:r>
              <a:t>AutoEncoder (frozen)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D3C98"/>
                </a:solidFill>
                <a:latin typeface="Calibri"/>
              </a:defRPr>
            </a:pPr>
            <a:r>
              <a:t>3,021,312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0392B"/>
                </a:solidFill>
                <a:latin typeface="Calibri"/>
              </a:defRPr>
            </a:pPr>
            <a:r>
              <a:t>GIN (1 layer)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4389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132,096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846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35400"/>
                </a:solidFill>
                <a:latin typeface="Calibri"/>
              </a:defRPr>
            </a:pPr>
            <a:r>
              <a:t>Regression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35400"/>
                </a:solidFill>
                <a:latin typeface="Calibri"/>
              </a:defRPr>
            </a:pPr>
            <a:r>
              <a:t>33,665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Total trainable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5303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165,761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Training Config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8521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19"/>
              </a:spcAft>
              <a:defRPr sz="1100" b="0">
                <a:solidFill>
                  <a:srgbClr val="555566"/>
                </a:solidFill>
                <a:latin typeface="Calibri"/>
              </a:defRPr>
            </a:pPr>
            <a:r>
              <a:t>AdamW | LR: 1e-4 | WD: 1e-3 | Batch: 8</a:t>
            </a:r>
          </a:p>
          <a:p>
            <a:pPr>
              <a:spcAft>
                <a:spcPts val="419"/>
              </a:spcAft>
              <a:defRPr sz="1100" b="0">
                <a:solidFill>
                  <a:srgbClr val="555566"/>
                </a:solidFill>
                <a:latin typeface="Calibri"/>
              </a:defRPr>
            </a:pPr>
            <a:r>
              <a:t>Max 200 epochs | Early stop: patience 15</a:t>
            </a:r>
          </a:p>
          <a:p>
            <a:pPr>
              <a:spcAft>
                <a:spcPts val="419"/>
              </a:spcAft>
              <a:defRPr sz="1100" b="0">
                <a:solidFill>
                  <a:srgbClr val="555566"/>
                </a:solidFill>
                <a:latin typeface="Calibri"/>
              </a:defRPr>
            </a:pPr>
            <a:r>
              <a:t>Scheduler: ReduceLROnPlateau (0.8, pat=5)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Key Insight: Why Bipartite + PanNET-Only Pooling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Bipartite Message Passing (1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55566"/>
                </a:solidFill>
                <a:latin typeface="Calibri"/>
              </a:defRPr>
            </a:pPr>
            <a:r>
              <a:t>Before GNN: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6" name="Oval 5"/>
          <p:cNvSpPr/>
          <p:nvPr/>
        </p:nvSpPr>
        <p:spPr>
          <a:xfrm>
            <a:off x="173736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7" name="Oval 6"/>
          <p:cNvSpPr/>
          <p:nvPr/>
        </p:nvSpPr>
        <p:spPr>
          <a:xfrm>
            <a:off x="256032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9" name="Oval 8"/>
          <p:cNvSpPr/>
          <p:nvPr/>
        </p:nvSpPr>
        <p:spPr>
          <a:xfrm>
            <a:off x="173736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10" name="Oval 9"/>
          <p:cNvSpPr/>
          <p:nvPr/>
        </p:nvSpPr>
        <p:spPr>
          <a:xfrm>
            <a:off x="256032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66"/>
                </a:solidFill>
                <a:latin typeface="Calibri"/>
              </a:defRPr>
            </a:pPr>
            <a:r>
              <a:t>T nodes: tumor features only</a:t>
            </a:r>
            <a:br/>
            <a:r>
              <a:t>S nodes: stroma features only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74720" y="2560320"/>
            <a:ext cx="91440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2103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35400"/>
                </a:solidFill>
                <a:latin typeface="Calibri"/>
              </a:defRPr>
            </a:pPr>
            <a:r>
              <a:t>GIN</a:t>
            </a:r>
            <a:br/>
            <a:r>
              <a:t>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55566"/>
                </a:solidFill>
                <a:latin typeface="Calibri"/>
              </a:defRPr>
            </a:pPr>
            <a:r>
              <a:t>After GNN: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T+S</a:t>
            </a:r>
          </a:p>
        </p:txBody>
      </p:sp>
      <p:sp>
        <p:nvSpPr>
          <p:cNvPr id="16" name="Oval 15"/>
          <p:cNvSpPr/>
          <p:nvPr/>
        </p:nvSpPr>
        <p:spPr>
          <a:xfrm>
            <a:off x="585216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T+S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0" y="2103120"/>
            <a:ext cx="457200" cy="4572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T+S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S+T</a:t>
            </a:r>
          </a:p>
        </p:txBody>
      </p:sp>
      <p:sp>
        <p:nvSpPr>
          <p:cNvPr id="19" name="Oval 18"/>
          <p:cNvSpPr/>
          <p:nvPr/>
        </p:nvSpPr>
        <p:spPr>
          <a:xfrm>
            <a:off x="585216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S+T</a:t>
            </a:r>
          </a:p>
        </p:txBody>
      </p:sp>
      <p:sp>
        <p:nvSpPr>
          <p:cNvPr id="20" name="Oval 19"/>
          <p:cNvSpPr/>
          <p:nvPr/>
        </p:nvSpPr>
        <p:spPr>
          <a:xfrm>
            <a:off x="6675120" y="292608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</a:defRPr>
            </a:pPr>
            <a:r>
              <a:t>S+T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66"/>
                </a:solidFill>
                <a:latin typeface="Calibri"/>
              </a:defRPr>
            </a:pPr>
            <a:r>
              <a:t>T nodes: tumor + NNP context</a:t>
            </a:r>
            <a:br/>
            <a:r>
              <a:t>S nodes: stroma + tumor context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98079" y="2560320"/>
            <a:ext cx="731520" cy="365760"/>
          </a:xfrm>
          <a:prstGeom prst="rightArrow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80" y="1645920"/>
            <a:ext cx="3200400" cy="22860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27AE60"/>
                </a:solidFill>
              </a:defRPr>
            </a:pPr>
            <a:r>
              <a:t>Pool PanNET Only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endParaRPr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global_add_pool(T nodes)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endParaRPr/>
          </a:p>
          <a:p>
            <a:pPr algn="ctr">
              <a:defRPr sz="1100">
                <a:solidFill>
                  <a:srgbClr val="D35400"/>
                </a:solidFill>
              </a:defRPr>
            </a:pPr>
            <a:r>
              <a:t>NNP info already absorbed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into T embeddings via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message passing.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endParaRPr/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Pooling S nodes would</a:t>
            </a:r>
          </a:p>
          <a:p>
            <a:pPr algn="ctr">
              <a:defRPr sz="1100">
                <a:solidFill>
                  <a:srgbClr val="D35400"/>
                </a:solidFill>
              </a:defRPr>
            </a:pPr>
            <a:r>
              <a:t>DILUTE the tumor signal.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72000"/>
            <a:ext cx="34747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MIL (no graph)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Treats patches independently</a:t>
            </a:r>
            <a:br/>
            <a:r>
              <a:t>Loses spatial relationships</a:t>
            </a:r>
          </a:p>
          <a:p>
            <a:pPr algn="ctr">
              <a:defRPr sz="1800" b="1">
                <a:solidFill>
                  <a:srgbClr val="C0392B"/>
                </a:solidFill>
              </a:defRPr>
            </a:pPr>
            <a:r>
              <a:t>~63% F1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4572000"/>
            <a:ext cx="34747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Full Graph GNN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All edges (T↔T, S↔S, T↔S)</a:t>
            </a:r>
            <a:br/>
            <a:r>
              <a:t>Wastes capacity on noise</a:t>
            </a:r>
          </a:p>
          <a:p>
            <a:pPr algn="ctr">
              <a:defRPr sz="1800" b="1">
                <a:solidFill>
                  <a:srgbClr val="D35400"/>
                </a:solidFill>
              </a:defRPr>
            </a:pPr>
            <a:r>
              <a:t>~67% F1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4572000"/>
            <a:ext cx="347472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Bipartite GNN</a:t>
            </a:r>
          </a:p>
          <a:p>
            <a:pPr algn="ctr">
              <a:defRPr sz="1100">
                <a:solidFill>
                  <a:srgbClr val="555566"/>
                </a:solidFill>
              </a:defRPr>
            </a:pPr>
            <a:r>
              <a:t>Only T↔S edges</a:t>
            </a:r>
            <a:br/>
            <a:r>
              <a:t>Focused on interface</a:t>
            </a:r>
          </a:p>
          <a:p>
            <a:pPr algn="ctr">
              <a:defRPr sz="1800" b="1">
                <a:solidFill>
                  <a:srgbClr val="27AE60"/>
                </a:solidFill>
              </a:defRPr>
            </a:pPr>
            <a:r>
              <a:t>70.7% F1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Results: Thesis Performance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Loss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097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IPS-A 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097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IPS-B 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IPS-C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097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Macro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097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35400"/>
                </a:solidFill>
                <a:latin typeface="Calibri"/>
              </a:defRPr>
            </a:pPr>
            <a:r>
              <a:t>QWK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DeepSets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5087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508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47.3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508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508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77.1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5087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63.1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15087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1920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CLAM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192024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19202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35.3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202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9202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67.8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9202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48.0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19202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37.0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AB-MIL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23317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48.2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63.4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78.1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23317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63.2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2331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55.5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2743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Patch-GCN (1L)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274320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27432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41.1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27432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65.1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27432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77.9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2743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61.4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27432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50.7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31546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35400"/>
                </a:solidFill>
                <a:latin typeface="Calibri"/>
              </a:defRPr>
            </a:pPr>
            <a:r>
              <a:t>Context-Aware MIL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15468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47.1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62.7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80.1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31546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63.3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35400"/>
                </a:solidFill>
                <a:latin typeface="Calibri"/>
              </a:defRPr>
            </a:pPr>
            <a:r>
              <a:t>62.9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5661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AE60"/>
                </a:solidFill>
                <a:latin typeface="Calibri"/>
              </a:defRPr>
            </a:pPr>
            <a:r>
              <a:t>Bipartite GIN (ours)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35661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REG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61.0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67.0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84.2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35661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70.7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95360" y="35661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AE60"/>
                </a:solidFill>
                <a:latin typeface="Calibri"/>
              </a:defRPr>
            </a:pPr>
            <a:r>
              <a:t>69.1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Calibri"/>
              </a:defRPr>
            </a:pPr>
            <a:r>
              <a:t>Key Ablation Findings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4572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Bipartite &gt; Full Graph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T↔S only edges outperform all-edges graphs at every radius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Regression &gt; Classification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5029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Huber loss &gt;&gt; cross-entropy for ordinal grading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35400"/>
                </a:solidFill>
                <a:latin typeface="Calibri"/>
              </a:defRPr>
            </a:pPr>
            <a:r>
              <a:t>1 layer &gt; 2-3 layers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486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Deeper GNNs over-smooth at larger radii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943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r=3 &gt; r=2 &gt; r=1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More spatial context consistently helps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400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GIN ≈ GATv2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Sum aggregation matches attention; simpler is better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Dataset &amp;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Dataset: Koç University Hospital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73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252 H&amp;E-stained WSIs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61 patients with 3 WSIs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used for IPS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12 patients with &lt;3 WSIs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training only (never evaluated)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Grade Distribution (WSI-level)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G1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64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G2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43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G3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G4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34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657600"/>
            <a:ext cx="73152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G5</a:t>
            </a:r>
          </a:p>
          <a:p>
            <a:pPr algn="ctr">
              <a:defRPr sz="1800" b="1">
                <a:solidFill>
                  <a:srgbClr val="1A1A1A"/>
                </a:solidFill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Calibri"/>
              </a:defRPr>
            </a:pPr>
            <a:r>
              <a:t>IPS Distribution (patient-level)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IPS-A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t>n=12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031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IPS-B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t>n=21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5212080"/>
            <a:ext cx="1097280" cy="73152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A1A1A"/>
                </a:solidFill>
              </a:defRPr>
            </a:pPr>
            <a:r>
              <a:t>IPS-C</a:t>
            </a:r>
          </a:p>
          <a:p>
            <a:pPr algn="ctr">
              <a:defRPr sz="1600" b="1">
                <a:solidFill>
                  <a:srgbClr val="1A1A1A"/>
                </a:solidFill>
              </a:defRPr>
            </a:pPr>
            <a:r>
              <a:t>n=28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1A"/>
                </a:solidFill>
                <a:latin typeface="Calibri"/>
              </a:defRPr>
            </a:pPr>
            <a:r>
              <a:t>4-Fold Cross-Validation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s1, s2, s3, s4: rotate as test/val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s5: always training (incomplete patients)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Per fold: test=s[i], val=s[(i+1)%4]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        train=remaining + s5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25 random seeds per configuration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robust statistical comparison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→ Wilcoxon signed-rank test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endParaRPr/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Metrics: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• Per-class F1 (IPS-A, B, C)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• Macro F1 (unweighted mean)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• QWK (penalizes distant errors)</a:t>
            </a:r>
          </a:p>
          <a:p>
            <a:pPr>
              <a:spcAft>
                <a:spcPts val="439"/>
              </a:spcAft>
              <a:defRPr sz="1200" b="0">
                <a:solidFill>
                  <a:srgbClr val="555566"/>
                </a:solidFill>
                <a:latin typeface="Calibri"/>
              </a:defRPr>
            </a:pPr>
            <a:r>
              <a:t>  • MAE (mean absolute error)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Patient-Level IPS Prediction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8288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Slide 1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377440" y="16459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017520" y="1371600"/>
            <a:ext cx="164592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7AE60"/>
                </a:solidFill>
              </a:defRPr>
            </a:pPr>
            <a:r>
              <a:t>Bipartite</a:t>
            </a:r>
            <a:br/>
            <a:r>
              <a:t>Graph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46320" y="16459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0" y="13716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GIN</a:t>
            </a:r>
            <a:br/>
            <a:r>
              <a:t>Model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40880" y="16459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680960" y="13716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D35400"/>
                </a:solidFill>
              </a:defRPr>
            </a:pPr>
            <a:r>
              <a:t>Grade: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18288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Slide 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77440" y="30175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017520" y="2743200"/>
            <a:ext cx="164592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7AE60"/>
                </a:solidFill>
              </a:defRPr>
            </a:pPr>
            <a:r>
              <a:t>Bipartite</a:t>
            </a:r>
            <a:br/>
            <a:r>
              <a:t>Graph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86400" y="27432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GIN</a:t>
            </a:r>
            <a:br/>
            <a:r>
              <a:t>Model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0880" y="30175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680960" y="27432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D35400"/>
                </a:solidFill>
              </a:defRPr>
            </a:pPr>
            <a:r>
              <a:t>Grade: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8288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Slide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377440" y="43891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017520" y="4114800"/>
            <a:ext cx="164592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7AE60"/>
                </a:solidFill>
              </a:defRPr>
            </a:pPr>
            <a:r>
              <a:t>Bipartite</a:t>
            </a:r>
            <a:br/>
            <a:r>
              <a:t>Graph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46320" y="43891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0" y="41148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GIN</a:t>
            </a:r>
            <a:br/>
            <a:r>
              <a:t>Model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40880" y="438912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680960" y="4114800"/>
            <a:ext cx="1371600" cy="9144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D35400"/>
                </a:solidFill>
              </a:defRPr>
            </a:pPr>
            <a:r>
              <a:t>Grade: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371600"/>
            <a:ext cx="457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1A1A1A"/>
                </a:solidFill>
                <a:latin typeface="Calibri"/>
              </a:defRPr>
            </a:pPr>
            <a:r>
              <a:t>}</a:t>
            </a:r>
            <a:br/>
            <a:br/>
            <a:r>
              <a:t>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2103120"/>
            <a:ext cx="2011680" cy="1828800"/>
          </a:xfrm>
          <a:prstGeom prst="roundRect">
            <a:avLst/>
          </a:prstGeom>
          <a:solidFill>
            <a:srgbClr val="F0F0F5"/>
          </a:solidFill>
          <a:ln w="2540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1A1A1A"/>
                </a:solidFill>
              </a:defRPr>
            </a:pPr>
            <a:r>
              <a:t>Sum = 12</a:t>
            </a:r>
          </a:p>
          <a:p>
            <a:br/>
            <a:r>
              <a:t>IPS-C</a:t>
            </a:r>
          </a:p>
          <a:p>
            <a:pPr algn="ctr">
              <a:defRPr sz="1200">
                <a:solidFill>
                  <a:srgbClr val="555566"/>
                </a:solidFill>
              </a:defRPr>
            </a:pPr>
            <a:r>
              <a:t>Highly</a:t>
            </a:r>
            <a:br/>
            <a:r>
              <a:t>Infiltrative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Each WSI → graph → GIN → predicted grade (1-5 continuous → rounded to integer)</a:t>
            </a:r>
          </a:p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Sum 3 slide grades: [3-6] = IPS-A  |  [7-9] = IPS-B  |  [10-15] = IPS-C</a:t>
            </a:r>
          </a:p>
          <a:p>
            <a:pPr>
              <a:spcAft>
                <a:spcPts val="459"/>
              </a:spcAft>
              <a:defRPr sz="1300" b="0">
                <a:solidFill>
                  <a:srgbClr val="555566"/>
                </a:solidFill>
                <a:latin typeface="Calibri"/>
              </a:defRPr>
            </a:pPr>
            <a:r>
              <a:t>• Only patients with exactly 3 slides are evaluated (61 patients)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1673</Words>
  <Application>Microsoft Macintosh PowerPoint</Application>
  <PresentationFormat>Widescreen</PresentationFormat>
  <Paragraphs>360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HIKMET SINAN CAKMAK</cp:lastModifiedBy>
  <cp:revision>2</cp:revision>
  <dcterms:created xsi:type="dcterms:W3CDTF">2013-01-27T09:14:16Z</dcterms:created>
  <dcterms:modified xsi:type="dcterms:W3CDTF">2026-03-25T22:15:19Z</dcterms:modified>
  <cp:category/>
</cp:coreProperties>
</file>