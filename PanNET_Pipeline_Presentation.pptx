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8" r:id="rId11"/>
    <p:sldId id="267" r:id="rId12"/>
    <p:sldId id="269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62"/>
    <p:restoredTop sz="94618"/>
  </p:normalViewPr>
  <p:slideViewPr>
    <p:cSldViewPr snapToGrid="0" snapToObjects="1">
      <p:cViewPr>
        <p:scale>
          <a:sx n="149" d="100"/>
          <a:sy n="149" d="100"/>
        </p:scale>
        <p:origin x="144" y="15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A1A1A"/>
                </a:solidFill>
                <a:latin typeface="Calibri"/>
              </a:defRPr>
            </a:pPr>
            <a:r>
              <a:t>Context-Aware Graph Neural Networks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651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1A1A1A"/>
                </a:solidFill>
                <a:latin typeface="Calibri"/>
              </a:defRPr>
            </a:pPr>
            <a:r>
              <a:t>for PanNET Infiltration Pattern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66"/>
                </a:solidFill>
                <a:latin typeface="Calibri"/>
              </a:defRPr>
            </a:pPr>
            <a:r>
              <a:t>End-to-End Pipeline: WSI → Bipartite GNN → Patient-Level IPS Prediction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846320"/>
            <a:ext cx="1828800" cy="82296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</a:pPr>
            <a:r>
              <a:rPr sz="1200" b="1">
                <a:solidFill>
                  <a:srgbClr val="FFFFFF"/>
                </a:solidFill>
              </a:rPr>
              <a:t>Stage 1</a:t>
            </a:r>
            <a:br>
              <a:rPr sz="1200" b="1">
                <a:solidFill>
                  <a:srgbClr val="FFFFFF"/>
                </a:solidFill>
              </a:rPr>
            </a:br>
            <a:r>
              <a:rPr sz="1200" b="1">
                <a:solidFill>
                  <a:srgbClr val="FFFFFF"/>
                </a:solidFill>
              </a:rPr>
              <a:t>WSI → Patches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26080" y="5120640"/>
            <a:ext cx="32004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246120" y="4846320"/>
            <a:ext cx="1828800" cy="82296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</a:pPr>
            <a:r>
              <a:rPr sz="1200" b="1">
                <a:solidFill>
                  <a:srgbClr val="FFFFFF"/>
                </a:solidFill>
              </a:rPr>
              <a:t>Stage 2</a:t>
            </a:r>
            <a:br>
              <a:rPr sz="1200" b="1">
                <a:solidFill>
                  <a:srgbClr val="FFFFFF"/>
                </a:solidFill>
              </a:rPr>
            </a:br>
            <a:r>
              <a:rPr sz="1200" b="1">
                <a:solidFill>
                  <a:srgbClr val="FFFFFF"/>
                </a:solidFill>
              </a:rPr>
              <a:t>AutoEncoder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074920" y="5120640"/>
            <a:ext cx="32004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394960" y="4846320"/>
            <a:ext cx="1965960" cy="82296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</a:pPr>
            <a:r>
              <a:rPr sz="1200" b="1" dirty="0">
                <a:solidFill>
                  <a:srgbClr val="FFFFFF"/>
                </a:solidFill>
              </a:rPr>
              <a:t>Stage 3</a:t>
            </a:r>
            <a:r>
              <a:rPr lang="tr-TR" sz="1200" b="1" dirty="0">
                <a:solidFill>
                  <a:srgbClr val="FFFFFF"/>
                </a:solidFill>
              </a:rPr>
              <a:t>-4</a:t>
            </a:r>
            <a:br>
              <a:rPr sz="1200" b="1" dirty="0">
                <a:solidFill>
                  <a:srgbClr val="FFFFFF"/>
                </a:solidFill>
              </a:rPr>
            </a:br>
            <a:r>
              <a:rPr sz="1200" b="1" dirty="0">
                <a:solidFill>
                  <a:srgbClr val="FFFFFF"/>
                </a:solidFill>
              </a:rPr>
              <a:t>Graph Build</a:t>
            </a:r>
            <a:r>
              <a:rPr lang="tr-TR" sz="1200" b="1" dirty="0">
                <a:solidFill>
                  <a:srgbClr val="FFFFFF"/>
                </a:solidFill>
              </a:rPr>
              <a:t> - </a:t>
            </a:r>
            <a:r>
              <a:rPr lang="en-US" sz="1200" b="1" dirty="0">
                <a:solidFill>
                  <a:srgbClr val="FFFFFF"/>
                </a:solidFill>
              </a:rPr>
              <a:t>Cache (.</a:t>
            </a:r>
            <a:r>
              <a:rPr lang="en-US" sz="1200" b="1" dirty="0" err="1">
                <a:solidFill>
                  <a:srgbClr val="FFFFFF"/>
                </a:solidFill>
              </a:rPr>
              <a:t>pkl</a:t>
            </a:r>
            <a:r>
              <a:rPr lang="en-US" sz="1200" b="1" dirty="0">
                <a:solidFill>
                  <a:srgbClr val="FFFFFF"/>
                </a:solidFill>
              </a:rPr>
              <a:t>)</a:t>
            </a:r>
            <a:endParaRPr sz="1200" b="1" dirty="0">
              <a:solidFill>
                <a:srgbClr val="FFFFFF"/>
              </a:solidFill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7326630" y="5120640"/>
            <a:ext cx="32004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612380" y="4846320"/>
            <a:ext cx="1828800" cy="82296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rPr dirty="0"/>
              <a:t>Stage 5</a:t>
            </a:r>
            <a:br>
              <a:rPr dirty="0"/>
            </a:br>
            <a:r>
              <a:rPr dirty="0"/>
              <a:t>GIN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Medical Background: PanNET Infiltration Pattern Scoring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66"/>
                </a:solidFill>
                <a:latin typeface="Calibri"/>
              </a:defRPr>
            </a:pPr>
            <a:r>
              <a:t>How pathologists grade tumor infiltration at the tumor–NNP interface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097280" cy="5029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Grade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3716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Fully demarcated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37160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Round/capsulated tumor, clean boundary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1097280" cy="5029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Grade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116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Mildly irregular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01168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Early capsular penetration, clusters attached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51760"/>
            <a:ext cx="1097280" cy="502920"/>
          </a:xfrm>
          <a:prstGeom prst="round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Grade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6517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Satellite/projections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65176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Large nodules, connected to main mass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1097280" cy="502920"/>
          </a:xfrm>
          <a:prstGeom prst="round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Grade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29184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Peri-tumoral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2918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Small clusters nearby, no distant invasion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31920"/>
            <a:ext cx="109728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Grade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9319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Non-demarcated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9319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Prominent infiltration, clusters far from tumor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1A"/>
                </a:solidFill>
                <a:latin typeface="Calibri"/>
              </a:defRPr>
            </a:pPr>
            <a:r>
              <a:t>Patient-Level IPS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1920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Sum grades from 3 representative WSIs: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3246120"/>
            <a:ext cx="3200400" cy="6400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dirty="0"/>
              <a:t>IPS-</a:t>
            </a:r>
            <a:r>
              <a:rPr lang="tr-TR" dirty="0"/>
              <a:t>2</a:t>
            </a:r>
            <a:r>
              <a:rPr dirty="0"/>
              <a:t> |  Sum ∈ </a:t>
            </a:r>
            <a:r>
              <a:rPr lang="en-TR" dirty="0"/>
              <a:t>[7</a:t>
            </a:r>
            <a:r>
              <a:rPr dirty="0"/>
              <a:t>, 9]</a:t>
            </a:r>
          </a:p>
          <a:p>
            <a:pPr>
              <a:defRPr sz="1100">
                <a:solidFill>
                  <a:srgbClr val="555566"/>
                </a:solidFill>
              </a:defRPr>
            </a:pPr>
            <a:r>
              <a:rPr dirty="0"/>
              <a:t>Moderately infiltrative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4023360"/>
            <a:ext cx="3200400" cy="6400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dirty="0"/>
              <a:t>IPS-</a:t>
            </a:r>
            <a:r>
              <a:rPr lang="tr-TR" dirty="0"/>
              <a:t>3</a:t>
            </a:r>
            <a:r>
              <a:rPr dirty="0"/>
              <a:t>  |  Sum ∈ [10, 15]</a:t>
            </a:r>
          </a:p>
          <a:p>
            <a:pPr>
              <a:defRPr sz="1100">
                <a:solidFill>
                  <a:srgbClr val="555566"/>
                </a:solidFill>
              </a:defRPr>
            </a:pPr>
            <a:r>
              <a:rPr dirty="0"/>
              <a:t>Highly infiltrative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029200"/>
            <a:ext cx="11247120" cy="10972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300">
                <a:solidFill>
                  <a:srgbClr val="1A1A1A"/>
                </a:solidFill>
              </a:defRPr>
            </a:pPr>
            <a:r>
              <a:rPr dirty="0"/>
              <a:t>Infiltration is a SPATIAL property — it depends on HOW tumor interacts with surrounding tissue (NNP), not just what tumor cells look like individually. This is why GNNs are needed: they model spatial relationships between tissue patches.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2468880"/>
            <a:ext cx="3200400" cy="6400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dirty="0"/>
              <a:t>IPS-</a:t>
            </a:r>
            <a:r>
              <a:rPr lang="tr-TR" dirty="0"/>
              <a:t>1</a:t>
            </a:r>
            <a:r>
              <a:rPr dirty="0"/>
              <a:t>  |  Sum ∈ [3, 6]</a:t>
            </a:r>
          </a:p>
          <a:p>
            <a:pPr>
              <a:defRPr sz="1100">
                <a:solidFill>
                  <a:srgbClr val="555566"/>
                </a:solidFill>
              </a:defRPr>
            </a:pPr>
            <a:r>
              <a:rPr dirty="0"/>
              <a:t>Non/minimally infiltrative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Dataset &amp; Evaluation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Dataset: Koç University Hospital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73 patients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645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252 H&amp;E-stained WSIs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61 patients with 3 WSIs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→ used for IPS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12 patients with &lt;3 WSIs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560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→ training only (never evaluated)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Calibri"/>
              </a:defRPr>
            </a:pPr>
            <a:r>
              <a:t>Grade Distribution (WSI-level)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57600"/>
            <a:ext cx="73152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G1</a:t>
            </a:r>
          </a:p>
          <a:p>
            <a:pPr algn="ctr">
              <a:defRPr sz="1800" b="1">
                <a:solidFill>
                  <a:srgbClr val="1A1A1A"/>
                </a:solidFill>
              </a:defRPr>
            </a:pPr>
            <a:r>
              <a:t>64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45920" y="3657600"/>
            <a:ext cx="73152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G2</a:t>
            </a:r>
          </a:p>
          <a:p>
            <a:pPr algn="ctr">
              <a:defRPr sz="1800" b="1">
                <a:solidFill>
                  <a:srgbClr val="1A1A1A"/>
                </a:solidFill>
              </a:defRPr>
            </a:pPr>
            <a:r>
              <a:t>43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3657600"/>
            <a:ext cx="73152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G3</a:t>
            </a:r>
          </a:p>
          <a:p>
            <a:pPr algn="ctr">
              <a:defRPr sz="1800" b="1">
                <a:solidFill>
                  <a:srgbClr val="1A1A1A"/>
                </a:solidFill>
              </a:defRPr>
            </a:pPr>
            <a:r>
              <a:t>36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3657600"/>
            <a:ext cx="73152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G4</a:t>
            </a:r>
          </a:p>
          <a:p>
            <a:pPr algn="ctr">
              <a:defRPr sz="1800" b="1">
                <a:solidFill>
                  <a:srgbClr val="1A1A1A"/>
                </a:solidFill>
              </a:defRPr>
            </a:pPr>
            <a:r>
              <a:t>34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657600"/>
            <a:ext cx="73152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G5</a:t>
            </a:r>
          </a:p>
          <a:p>
            <a:pPr algn="ctr">
              <a:defRPr sz="1800" b="1">
                <a:solidFill>
                  <a:srgbClr val="1A1A1A"/>
                </a:solidFill>
              </a:defRPr>
            </a:pPr>
            <a: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Calibri"/>
              </a:defRPr>
            </a:pPr>
            <a:r>
              <a:t>IPS Distribution (patient-level)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212080"/>
            <a:ext cx="109728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dirty="0"/>
              <a:t>IPS-A</a:t>
            </a:r>
          </a:p>
          <a:p>
            <a:pPr algn="ctr">
              <a:defRPr sz="1600" b="1">
                <a:solidFill>
                  <a:srgbClr val="1A1A1A"/>
                </a:solidFill>
              </a:defRPr>
            </a:pPr>
            <a:r>
              <a:rPr dirty="0"/>
              <a:t>n=12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03120" y="5212080"/>
            <a:ext cx="109728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dirty="0"/>
              <a:t>IPS-B</a:t>
            </a:r>
          </a:p>
          <a:p>
            <a:pPr algn="ctr">
              <a:defRPr sz="1600" b="1">
                <a:solidFill>
                  <a:srgbClr val="1A1A1A"/>
                </a:solidFill>
              </a:defRPr>
            </a:pPr>
            <a:r>
              <a:rPr dirty="0"/>
              <a:t>n=21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0" y="5212080"/>
            <a:ext cx="109728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dirty="0"/>
              <a:t>IPS-C</a:t>
            </a:r>
          </a:p>
          <a:p>
            <a:pPr algn="ctr">
              <a:defRPr sz="1600" b="1">
                <a:solidFill>
                  <a:srgbClr val="1A1A1A"/>
                </a:solidFill>
              </a:defRPr>
            </a:pPr>
            <a:r>
              <a:rPr dirty="0"/>
              <a:t>n=28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428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4-Fold Cross-Validation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4280" y="1645920"/>
            <a:ext cx="5029200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s1, s2, s3, s4: rotate as test/</a:t>
            </a:r>
            <a:r>
              <a:rPr dirty="0" err="1"/>
              <a:t>val</a:t>
            </a:r>
            <a:endParaRPr dirty="0"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s5: always training (incomplete patients)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 dirty="0"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Per fold: test=s[</a:t>
            </a:r>
            <a:r>
              <a:rPr dirty="0" err="1"/>
              <a:t>i</a:t>
            </a:r>
            <a:r>
              <a:rPr dirty="0"/>
              <a:t>], </a:t>
            </a:r>
            <a:r>
              <a:rPr dirty="0" err="1"/>
              <a:t>val</a:t>
            </a:r>
            <a:r>
              <a:rPr dirty="0"/>
              <a:t>=s[(i+1)%4]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          train=remaining + s5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 dirty="0"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25 random seeds per configuration</a:t>
            </a:r>
          </a:p>
          <a:p>
            <a:pPr marL="171450" indent="-171450">
              <a:spcAft>
                <a:spcPts val="439"/>
              </a:spcAft>
              <a:buFont typeface="Wingdings" pitchFamily="2" charset="2"/>
              <a:buChar char="è"/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lang="tr-TR" dirty="0"/>
              <a:t>I </a:t>
            </a:r>
            <a:r>
              <a:rPr lang="tr-TR" dirty="0" err="1"/>
              <a:t>used</a:t>
            </a:r>
            <a:r>
              <a:rPr lang="tr-TR" dirty="0"/>
              <a:t> 5 </a:t>
            </a:r>
            <a:r>
              <a:rPr lang="tr-TR" dirty="0" err="1"/>
              <a:t>to</a:t>
            </a:r>
            <a:r>
              <a:rPr lang="tr-TR" dirty="0"/>
              <a:t> </a:t>
            </a:r>
            <a:r>
              <a:rPr lang="tr-TR" dirty="0" err="1"/>
              <a:t>make</a:t>
            </a:r>
            <a:r>
              <a:rPr lang="tr-TR" dirty="0"/>
              <a:t> </a:t>
            </a:r>
            <a:r>
              <a:rPr lang="tr-TR" dirty="0" err="1"/>
              <a:t>things</a:t>
            </a:r>
            <a:r>
              <a:rPr lang="tr-TR" dirty="0"/>
              <a:t> </a:t>
            </a:r>
            <a:r>
              <a:rPr lang="tr-TR" dirty="0" err="1"/>
              <a:t>faster</a:t>
            </a:r>
            <a:endParaRPr lang="tr-TR" dirty="0"/>
          </a:p>
          <a:p>
            <a:pPr marL="171450" indent="-171450">
              <a:spcAft>
                <a:spcPts val="439"/>
              </a:spcAft>
              <a:buFont typeface="Wingdings" pitchFamily="2" charset="2"/>
              <a:buChar char="è"/>
              <a:defRPr sz="1200" b="0">
                <a:solidFill>
                  <a:srgbClr val="555566"/>
                </a:solidFill>
                <a:latin typeface="Calibri"/>
              </a:defRPr>
            </a:pPr>
            <a:endParaRPr dirty="0"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Metrics: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  • Per-class F1 (IPS-A, B, C)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  • Macro F1 (unweighted mean)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  • QWK (penalizes distant errors)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  • MAE (mean absolute error)</a:t>
            </a:r>
            <a:endParaRPr lang="tr-TR" dirty="0"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 lang="en-TR" dirty="0"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rPr dirty="0"/>
              <a:t>Pipeline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WSI</a:t>
            </a:r>
            <a:br/>
            <a:r>
              <a:t>(.tiff)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100K×100K px</a:t>
            </a:r>
            <a:br/>
            <a:r>
              <a:t>H&amp;E stained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286000" y="16002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560320" y="11887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dirty="0"/>
              <a:t>Tissue</a:t>
            </a:r>
            <a:br>
              <a:rPr dirty="0"/>
            </a:br>
            <a:r>
              <a:rPr dirty="0"/>
              <a:t>Segmentation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 err="1"/>
              <a:t>GrandQC</a:t>
            </a:r>
            <a:br>
              <a:rPr dirty="0"/>
            </a:br>
            <a:r>
              <a:rPr dirty="0"/>
              <a:t>≥60% tissue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480560" y="16002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754880" y="11887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dirty="0"/>
              <a:t>Patch</a:t>
            </a:r>
            <a:br>
              <a:rPr dirty="0"/>
            </a:br>
            <a:r>
              <a:rPr dirty="0"/>
              <a:t>Extraction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1024×1024 </a:t>
            </a:r>
            <a:r>
              <a:rPr dirty="0" err="1"/>
              <a:t>px</a:t>
            </a:r>
            <a:br>
              <a:rPr dirty="0"/>
            </a:br>
            <a:r>
              <a:rPr dirty="0"/>
              <a:t>@ 40x mag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5120" y="16002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949440" y="11887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dirty="0"/>
              <a:t>VirChow2</a:t>
            </a:r>
            <a:br>
              <a:rPr dirty="0"/>
            </a:br>
            <a:r>
              <a:rPr dirty="0"/>
              <a:t>Encoder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Foundation model</a:t>
            </a:r>
            <a:br>
              <a:rPr dirty="0"/>
            </a:br>
            <a:r>
              <a:rPr dirty="0"/>
              <a:t>→ 1280-d vector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69680" y="16002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144000" y="11887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dirty="0"/>
              <a:t>H5 File</a:t>
            </a:r>
            <a:br>
              <a:rPr dirty="0"/>
            </a:br>
            <a:r>
              <a:rPr dirty="0"/>
              <a:t>Output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features (N,1280)</a:t>
            </a:r>
            <a:br>
              <a:rPr dirty="0"/>
            </a:br>
            <a:r>
              <a:rPr dirty="0"/>
              <a:t>coords (N,2)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914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rPr dirty="0"/>
              <a:t>STAGE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743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980B9"/>
                </a:solidFill>
                <a:latin typeface="Calibri"/>
              </a:defRPr>
            </a:pPr>
            <a:r>
              <a:rPr sz="1200" b="1" dirty="0">
                <a:solidFill>
                  <a:srgbClr val="2980B9"/>
                </a:solidFill>
                <a:latin typeface="Calibri"/>
              </a:rPr>
              <a:t>STAGE </a:t>
            </a:r>
            <a:r>
              <a:rPr lang="tr-TR" sz="1200" b="1" dirty="0">
                <a:solidFill>
                  <a:srgbClr val="2980B9"/>
                </a:solidFill>
                <a:latin typeface="Calibri"/>
              </a:rPr>
              <a:t> </a:t>
            </a:r>
            <a:r>
              <a:rPr sz="1200" b="1" dirty="0">
                <a:solidFill>
                  <a:srgbClr val="2980B9"/>
                </a:solidFill>
                <a:latin typeface="Calibri"/>
              </a:rPr>
              <a:t>2 </a:t>
            </a:r>
            <a:r>
              <a:rPr lang="tr-TR" sz="1200" b="1" dirty="0">
                <a:solidFill>
                  <a:srgbClr val="2980B9"/>
                </a:solidFill>
                <a:latin typeface="Calibri"/>
              </a:rPr>
              <a:t>-</a:t>
            </a:r>
            <a:r>
              <a:rPr sz="1200" b="1" dirty="0">
                <a:solidFill>
                  <a:srgbClr val="2980B9"/>
                </a:solidFill>
                <a:latin typeface="Calibri"/>
              </a:rPr>
              <a:t> 3</a:t>
            </a:r>
            <a:r>
              <a:rPr lang="tr-TR" sz="1200" b="1" dirty="0">
                <a:solidFill>
                  <a:srgbClr val="2980B9"/>
                </a:solidFill>
                <a:latin typeface="Calibri"/>
              </a:rPr>
              <a:t> - 4</a:t>
            </a:r>
            <a:endParaRPr sz="1200" b="1" dirty="0">
              <a:solidFill>
                <a:srgbClr val="2980B9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30175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dirty="0" err="1"/>
              <a:t>AutoEncoder</a:t>
            </a:r>
            <a:br>
              <a:rPr dirty="0"/>
            </a:br>
            <a:r>
              <a:rPr dirty="0"/>
              <a:t>(frozen)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286000" y="34290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560320" y="30175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dirty="0"/>
              <a:t>Patch</a:t>
            </a:r>
            <a:br>
              <a:rPr dirty="0"/>
            </a:br>
            <a:r>
              <a:rPr dirty="0"/>
              <a:t>Classifier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3-class MLP</a:t>
            </a:r>
            <a:br>
              <a:rPr dirty="0"/>
            </a:br>
            <a:r>
              <a:rPr dirty="0"/>
              <a:t>Stroma/</a:t>
            </a:r>
            <a:r>
              <a:rPr dirty="0" err="1"/>
              <a:t>PanNET</a:t>
            </a:r>
            <a:r>
              <a:rPr dirty="0"/>
              <a:t>/Normal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80560" y="34290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754880" y="30175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rPr dirty="0"/>
              <a:t>Border</a:t>
            </a:r>
            <a:br>
              <a:rPr dirty="0"/>
            </a:br>
            <a:r>
              <a:rPr dirty="0"/>
              <a:t>Detection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8-connected check</a:t>
            </a:r>
            <a:br>
              <a:rPr dirty="0"/>
            </a:br>
            <a:r>
              <a:rPr dirty="0"/>
              <a:t>+ NNP neighbors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675120" y="34290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949440" y="30175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Bipartite</a:t>
            </a:r>
            <a:br/>
            <a:r>
              <a:t>Graph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PanNET ↔ NNP edges</a:t>
            </a:r>
            <a:br/>
            <a:r>
              <a:t>Chebyshev dist ≤ r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869680" y="34290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144000" y="30175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Cache</a:t>
            </a:r>
            <a:br/>
            <a:r>
              <a:t>as .pkl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PyG Data objects</a:t>
            </a:r>
            <a:br/>
            <a:r>
              <a:t>node + edge attrs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572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STAGE 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8463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GIN</a:t>
            </a:r>
            <a:br/>
            <a:r>
              <a:t>Message Passing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Sum aggregation</a:t>
            </a:r>
            <a:br/>
            <a:r>
              <a:t>+ residual connections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286000" y="52578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560320" y="48463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PanNET-Only</a:t>
            </a:r>
            <a:br/>
            <a:r>
              <a:t>Pooling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global_add_pool</a:t>
            </a:r>
            <a:br/>
            <a:r>
              <a:t>tumor nodes only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4480560" y="52578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4754880" y="48463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Regression</a:t>
            </a:r>
            <a:br/>
            <a:r>
              <a:t>Head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MLP → single grade</a:t>
            </a:r>
            <a:br/>
            <a:r>
              <a:t>Huber loss (δ=2)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675120" y="52578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949440" y="48463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Patient</a:t>
            </a:r>
            <a:br/>
            <a:r>
              <a:t>Aggregation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3 slides → sum</a:t>
            </a:r>
            <a:br/>
            <a:r>
              <a:t>→ IPS (A/B/C)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8869680" y="52578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144000" y="48463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Evaluation</a:t>
            </a:r>
            <a:br/>
            <a:r>
              <a:t>Metrics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F1, QWK, MAE</a:t>
            </a:r>
            <a:br/>
            <a:r>
              <a:t>4-fold × 25 seeds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199" y="274320"/>
            <a:ext cx="620599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rPr dirty="0"/>
              <a:t>Stage 1: </a:t>
            </a:r>
            <a:r>
              <a:rPr lang="tr-TR" dirty="0" err="1"/>
              <a:t>Patch</a:t>
            </a:r>
            <a:r>
              <a:rPr dirty="0"/>
              <a:t> → Feature Extraction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199" y="1663698"/>
            <a:ext cx="3200400" cy="22860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400" b="1">
                <a:solidFill>
                  <a:srgbClr val="2980B9"/>
                </a:solidFill>
              </a:defRPr>
            </a:pPr>
            <a:r>
              <a:rPr dirty="0"/>
              <a:t>Whole Slide 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5" y="2235200"/>
            <a:ext cx="45720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298447" y="2235200"/>
            <a:ext cx="457200" cy="292608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828799" y="2235200"/>
            <a:ext cx="457200" cy="292608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359151" y="2235200"/>
            <a:ext cx="45720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889503" y="2235200"/>
            <a:ext cx="457200" cy="29260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68095" y="2600960"/>
            <a:ext cx="457200" cy="292608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298447" y="2600960"/>
            <a:ext cx="457200" cy="292608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828799" y="2600960"/>
            <a:ext cx="45720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359151" y="2600960"/>
            <a:ext cx="457200" cy="29260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889503" y="2600960"/>
            <a:ext cx="457200" cy="292608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68095" y="2966720"/>
            <a:ext cx="457200" cy="292608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298447" y="2966720"/>
            <a:ext cx="45720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828799" y="2966720"/>
            <a:ext cx="457200" cy="29260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359151" y="2966720"/>
            <a:ext cx="457200" cy="292608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889503" y="2966720"/>
            <a:ext cx="45720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68095" y="3332480"/>
            <a:ext cx="45720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298447" y="3332480"/>
            <a:ext cx="457200" cy="29260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828799" y="3332480"/>
            <a:ext cx="457200" cy="292608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359151" y="3332480"/>
            <a:ext cx="45720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889503" y="3332480"/>
            <a:ext cx="457200" cy="292608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585215" y="4155439"/>
            <a:ext cx="228600" cy="2286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9535" y="41554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7AE60"/>
                </a:solidFill>
                <a:latin typeface="Calibri"/>
              </a:defRPr>
            </a:pPr>
            <a:r>
              <a:t>PanNET</a:t>
            </a:r>
          </a:p>
        </p:txBody>
      </p:sp>
      <p:sp>
        <p:nvSpPr>
          <p:cNvPr id="26" name="Oval 25"/>
          <p:cNvSpPr/>
          <p:nvPr/>
        </p:nvSpPr>
        <p:spPr>
          <a:xfrm>
            <a:off x="1682495" y="4155439"/>
            <a:ext cx="228600" cy="2286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956815" y="41554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0392B"/>
                </a:solidFill>
                <a:latin typeface="Calibri"/>
              </a:defRPr>
            </a:pPr>
            <a:r>
              <a:t>Stroma</a:t>
            </a:r>
          </a:p>
        </p:txBody>
      </p:sp>
      <p:sp>
        <p:nvSpPr>
          <p:cNvPr id="28" name="Oval 27"/>
          <p:cNvSpPr/>
          <p:nvPr/>
        </p:nvSpPr>
        <p:spPr>
          <a:xfrm>
            <a:off x="2688335" y="4155439"/>
            <a:ext cx="228600" cy="22860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962655" y="41554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980B9"/>
                </a:solidFill>
                <a:latin typeface="Calibri"/>
              </a:defRPr>
            </a:pPr>
            <a:r>
              <a:t>Normal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968495" y="2509520"/>
            <a:ext cx="640080" cy="365760"/>
          </a:xfrm>
          <a:prstGeom prst="rightArrow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791455" y="1595120"/>
            <a:ext cx="2926080" cy="27432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2980B9"/>
                </a:solidFill>
              </a:defRPr>
            </a:pPr>
            <a:r>
              <a:rPr sz="1400" b="1" dirty="0">
                <a:solidFill>
                  <a:srgbClr val="2980B9"/>
                </a:solidFill>
              </a:rPr>
              <a:t>VirChow2</a:t>
            </a:r>
          </a:p>
          <a:p>
            <a:pPr algn="ctr">
              <a:defRPr sz="1100">
                <a:solidFill>
                  <a:srgbClr val="1A1A1A"/>
                </a:solidFill>
              </a:defRPr>
            </a:pPr>
            <a:r>
              <a:rPr dirty="0"/>
              <a:t>Foundation Model</a:t>
            </a:r>
          </a:p>
          <a:p>
            <a:pPr algn="ctr">
              <a:defRPr sz="1100">
                <a:solidFill>
                  <a:srgbClr val="1A1A1A"/>
                </a:solidFill>
              </a:defRPr>
            </a:pPr>
            <a:endParaRPr lang="tr-TR" dirty="0"/>
          </a:p>
          <a:p>
            <a:pPr algn="ctr">
              <a:defRPr sz="1100">
                <a:solidFill>
                  <a:srgbClr val="1A1A1A"/>
                </a:solidFill>
              </a:defRPr>
            </a:pPr>
            <a:endParaRPr lang="en-TR" dirty="0"/>
          </a:p>
          <a:p>
            <a:pPr algn="ctr">
              <a:defRPr sz="1100">
                <a:solidFill>
                  <a:srgbClr val="1A1A1A"/>
                </a:solidFill>
              </a:defRPr>
            </a:pPr>
            <a:endParaRPr dirty="0"/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Input: 1024×1024×3 patch</a:t>
            </a:r>
          </a:p>
          <a:p>
            <a:pPr algn="ctr">
              <a:defRPr sz="1100">
                <a:solidFill>
                  <a:srgbClr val="27AE60"/>
                </a:solidFill>
              </a:defRPr>
            </a:pPr>
            <a:r>
              <a:rPr dirty="0"/>
              <a:t>Output: 1280-d vector</a:t>
            </a:r>
          </a:p>
          <a:p>
            <a:pPr algn="ctr">
              <a:defRPr sz="1100">
                <a:solidFill>
                  <a:srgbClr val="1A1A1A"/>
                </a:solidFill>
              </a:defRPr>
            </a:pPr>
            <a:endParaRPr lang="tr-TR" dirty="0"/>
          </a:p>
          <a:p>
            <a:pPr algn="ctr">
              <a:defRPr sz="1100">
                <a:solidFill>
                  <a:srgbClr val="1A1A1A"/>
                </a:solidFill>
              </a:defRPr>
            </a:pPr>
            <a:endParaRPr dirty="0"/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Captures: cell morphology,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tissue structure, staining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900415" y="2509520"/>
            <a:ext cx="640080" cy="365760"/>
          </a:xfrm>
          <a:prstGeom prst="rightArrow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723375" y="1595120"/>
            <a:ext cx="3108960" cy="27432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7AE60"/>
                </a:solidFill>
              </a:defRPr>
            </a:pPr>
            <a:r>
              <a:rPr dirty="0"/>
              <a:t>H5 File (per slide)</a:t>
            </a:r>
            <a:endParaRPr lang="tr-TR" dirty="0"/>
          </a:p>
          <a:p>
            <a:pPr algn="ctr">
              <a:defRPr sz="1600" b="1">
                <a:solidFill>
                  <a:srgbClr val="27AE60"/>
                </a:solidFill>
              </a:defRPr>
            </a:pPr>
            <a:endParaRPr dirty="0"/>
          </a:p>
          <a:p>
            <a:pPr algn="l">
              <a:defRPr sz="1100">
                <a:solidFill>
                  <a:srgbClr val="27AE60"/>
                </a:solidFill>
                <a:latin typeface="Consolas"/>
              </a:defRPr>
            </a:pPr>
            <a:r>
              <a:rPr dirty="0"/>
              <a:t>features     (N, 1280)</a:t>
            </a:r>
          </a:p>
          <a:p>
            <a:pPr algn="l">
              <a:defRPr sz="1100">
                <a:solidFill>
                  <a:srgbClr val="1A1A1A"/>
                </a:solidFill>
                <a:latin typeface="Consolas"/>
              </a:defRPr>
            </a:pPr>
            <a:r>
              <a:rPr dirty="0"/>
              <a:t>coords       (N, 2)</a:t>
            </a:r>
          </a:p>
          <a:p>
            <a:pPr algn="l">
              <a:defRPr sz="1100">
                <a:solidFill>
                  <a:srgbClr val="1A1A1A"/>
                </a:solidFill>
                <a:latin typeface="Consolas"/>
              </a:defRPr>
            </a:pPr>
            <a:r>
              <a:rPr dirty="0" err="1"/>
              <a:t>patch_classes</a:t>
            </a:r>
            <a:r>
              <a:rPr dirty="0"/>
              <a:t> (N,)</a:t>
            </a:r>
          </a:p>
          <a:p>
            <a:pPr algn="l">
              <a:defRPr sz="1100">
                <a:solidFill>
                  <a:srgbClr val="1A1A1A"/>
                </a:solidFill>
                <a:latin typeface="Consolas"/>
              </a:defRPr>
            </a:pPr>
            <a:r>
              <a:rPr dirty="0" err="1"/>
              <a:t>tissue_id</a:t>
            </a:r>
            <a:r>
              <a:rPr dirty="0"/>
              <a:t>    (N,)</a:t>
            </a:r>
          </a:p>
          <a:p>
            <a:pPr algn="l">
              <a:defRPr sz="1100">
                <a:solidFill>
                  <a:srgbClr val="555566"/>
                </a:solidFill>
                <a:latin typeface="Consolas"/>
              </a:defRPr>
            </a:pPr>
            <a:r>
              <a:rPr dirty="0" err="1"/>
              <a:t>slide_width</a:t>
            </a:r>
            <a:r>
              <a:rPr dirty="0"/>
              <a:t>  scalar</a:t>
            </a:r>
          </a:p>
          <a:p>
            <a:pPr algn="l">
              <a:defRPr sz="1100">
                <a:solidFill>
                  <a:srgbClr val="555566"/>
                </a:solidFill>
                <a:latin typeface="Consolas"/>
              </a:defRPr>
            </a:pPr>
            <a:r>
              <a:rPr dirty="0" err="1"/>
              <a:t>slide_height</a:t>
            </a:r>
            <a:r>
              <a:rPr dirty="0"/>
              <a:t> scalar</a:t>
            </a:r>
          </a:p>
          <a:p>
            <a:pPr algn="l">
              <a:defRPr sz="1100">
                <a:solidFill>
                  <a:srgbClr val="1A1A1A"/>
                </a:solidFill>
                <a:latin typeface="Consolas"/>
              </a:defRPr>
            </a:pPr>
            <a:endParaRPr dirty="0"/>
          </a:p>
          <a:p>
            <a:pPr algn="l">
              <a:defRPr sz="1100">
                <a:solidFill>
                  <a:srgbClr val="D35400"/>
                </a:solidFill>
                <a:latin typeface="Consolas"/>
              </a:defRPr>
            </a:pPr>
            <a:r>
              <a:rPr dirty="0"/>
              <a:t>252 slides → 252 H5 files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615" y="4795521"/>
            <a:ext cx="10972800" cy="556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59"/>
              </a:spcAft>
              <a:defRPr sz="1300" b="0">
                <a:solidFill>
                  <a:srgbClr val="555566"/>
                </a:solidFill>
                <a:latin typeface="Calibri"/>
              </a:defRPr>
            </a:pPr>
            <a:r>
              <a:rPr dirty="0"/>
              <a:t>• 40x magnification  |  1024×1024 </a:t>
            </a:r>
            <a:r>
              <a:rPr dirty="0" err="1"/>
              <a:t>px</a:t>
            </a:r>
            <a:r>
              <a:rPr dirty="0"/>
              <a:t> patches  |  ≥60% tissue threshold  |  </a:t>
            </a:r>
            <a:r>
              <a:rPr dirty="0" err="1"/>
              <a:t>GrandQC</a:t>
            </a:r>
            <a:r>
              <a:rPr dirty="0"/>
              <a:t> segmentation</a:t>
            </a:r>
          </a:p>
          <a:p>
            <a:pPr>
              <a:spcAft>
                <a:spcPts val="459"/>
              </a:spcAft>
              <a:defRPr sz="1300" b="0">
                <a:solidFill>
                  <a:srgbClr val="555566"/>
                </a:solidFill>
                <a:latin typeface="Calibri"/>
              </a:defRPr>
            </a:pPr>
            <a:r>
              <a:rPr dirty="0"/>
              <a:t>• Patch classifier: MLP (2560→256→128→3)  —  F1: </a:t>
            </a:r>
            <a:r>
              <a:rPr dirty="0" err="1"/>
              <a:t>PanNET</a:t>
            </a:r>
            <a:r>
              <a:rPr dirty="0"/>
              <a:t> 97.2%, Normal 96.2%, Stroma 90.9%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Stage 2: AutoEncoder — Feature Compression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66"/>
                </a:solidFill>
                <a:latin typeface="Calibri"/>
              </a:defRPr>
            </a:pPr>
            <a:r>
              <a:rPr dirty="0"/>
              <a:t>Why? 1280-d features → overfitting on small dataset (73 patients). Compress to 256-d.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39720" y="2354580"/>
            <a:ext cx="1188720" cy="13716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A1A1A"/>
                </a:solidFill>
              </a:defRPr>
            </a:pPr>
            <a:r>
              <a:t>1280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9720" y="1897380"/>
            <a:ext cx="1188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1A"/>
                </a:solidFill>
                <a:latin typeface="Calibri"/>
              </a:defRPr>
            </a:pPr>
            <a:r>
              <a:t>Input</a:t>
            </a:r>
            <a:br/>
            <a:r>
              <a:t>(VirChow2)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28440" y="2948940"/>
            <a:ext cx="137160" cy="18288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165600" y="2491740"/>
            <a:ext cx="1188720" cy="10972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A1A1A"/>
                </a:solidFill>
              </a:defRPr>
            </a:pPr>
            <a:r>
              <a:t>768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354320" y="2948940"/>
            <a:ext cx="137160" cy="18288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491480" y="2628900"/>
            <a:ext cx="1188720" cy="82296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A1A1A"/>
                </a:solidFill>
              </a:defRPr>
            </a:pPr>
            <a:r>
              <a:t>512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680200" y="2948940"/>
            <a:ext cx="137160" cy="182880"/>
          </a:xfrm>
          <a:prstGeom prst="rightArrow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817360" y="2720340"/>
            <a:ext cx="1188720" cy="640080"/>
          </a:xfrm>
          <a:prstGeom prst="roundRect">
            <a:avLst/>
          </a:prstGeom>
          <a:solidFill>
            <a:srgbClr val="27AE60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A1A1A"/>
                </a:solidFill>
              </a:defRPr>
            </a:pPr>
            <a:r>
              <a:t>256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7360" y="2263140"/>
            <a:ext cx="1188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1A"/>
                </a:solidFill>
                <a:latin typeface="Calibri"/>
              </a:defRPr>
            </a:pPr>
            <a:r>
              <a:t>Latent</a:t>
            </a:r>
            <a:br/>
            <a:r>
              <a:t>(keep this)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06080" y="2948940"/>
            <a:ext cx="137160" cy="18288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43240" y="2628900"/>
            <a:ext cx="1188720" cy="82296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A1A1A"/>
                </a:solidFill>
              </a:defRPr>
            </a:pPr>
            <a:r>
              <a:t>512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31960" y="2948940"/>
            <a:ext cx="137160" cy="18288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469120" y="2491740"/>
            <a:ext cx="1188720" cy="10972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A1A1A"/>
                </a:solidFill>
              </a:defRPr>
            </a:pPr>
            <a:r>
              <a:t>768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0657840" y="2948940"/>
            <a:ext cx="137160" cy="18288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795000" y="2354580"/>
            <a:ext cx="1188720" cy="13716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A1A1A"/>
                </a:solidFill>
              </a:defRPr>
            </a:pPr>
            <a:r>
              <a:t>1280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5000" y="1897380"/>
            <a:ext cx="1188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1A"/>
                </a:solidFill>
                <a:latin typeface="Calibri"/>
              </a:defRPr>
            </a:pPr>
            <a:r>
              <a:t>Reconstruction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9720" y="459486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D3C98"/>
                </a:solidFill>
                <a:latin typeface="Calibri"/>
              </a:defRPr>
            </a:pPr>
            <a:r>
              <a:t>◄─── ENCODER ───►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51800" y="45948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F8C8D"/>
                </a:solidFill>
                <a:latin typeface="Calibri"/>
              </a:defRPr>
            </a:pPr>
            <a:r>
              <a:t>◄─── DECODER ───►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700" y="1897380"/>
            <a:ext cx="2377440" cy="3857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lang="en-US" sz="1600" b="1" dirty="0"/>
              <a:t>Training Details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 lang="tr-TR" dirty="0"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Loss: MSE + variance reg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Optimizer: </a:t>
            </a:r>
            <a:r>
              <a:rPr dirty="0" err="1"/>
              <a:t>AdamW</a:t>
            </a:r>
            <a:endParaRPr dirty="0"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LR: 1e-3, WD: 1e-4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Batch size: 4096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Epochs: 50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Early stopping: patience 10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Split: 90/10 by H5 file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 dirty="0"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Each layer: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  Linear → </a:t>
            </a:r>
            <a:r>
              <a:rPr dirty="0" err="1"/>
              <a:t>RMSNorm</a:t>
            </a:r>
            <a:r>
              <a:rPr dirty="0"/>
              <a:t> → GELU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  + Dropout(0.2) in encoder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 dirty="0"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After training: FREEZE encoder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Use as fixed projector in GNN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1A"/>
                </a:solidFill>
                <a:latin typeface="Calibri"/>
              </a:defRPr>
            </a:pPr>
            <a:r>
              <a:rPr dirty="0"/>
              <a:t>Stage 3</a:t>
            </a:r>
            <a:r>
              <a:rPr lang="tr-TR" dirty="0"/>
              <a:t>-4</a:t>
            </a:r>
            <a:r>
              <a:rPr dirty="0"/>
              <a:t>: Graph Construction</a:t>
            </a:r>
            <a:r>
              <a:rPr lang="tr-TR" dirty="0"/>
              <a:t> (</a:t>
            </a:r>
            <a:r>
              <a:rPr lang="en-US" dirty="0"/>
              <a:t>Bipartite)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555765" y="2151809"/>
            <a:ext cx="2011680" cy="16459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A1A1A"/>
                </a:solidFill>
              </a:defRPr>
            </a:pPr>
            <a:r>
              <a:rPr dirty="0"/>
              <a:t>1. Hole Filling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Fill gaps inside</a:t>
            </a:r>
            <a:br>
              <a:rPr dirty="0"/>
            </a:br>
            <a:r>
              <a:rPr dirty="0"/>
              <a:t>tumor regions</a:t>
            </a:r>
            <a:br>
              <a:rPr dirty="0"/>
            </a:br>
            <a:r>
              <a:rPr dirty="0"/>
              <a:t>(morphological)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67445" y="2700449"/>
            <a:ext cx="22860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96045" y="2151809"/>
            <a:ext cx="2011680" cy="16459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A1A1A"/>
                </a:solidFill>
              </a:defRPr>
            </a:pPr>
            <a:r>
              <a:rPr dirty="0"/>
              <a:t>2. Border Detection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Find </a:t>
            </a:r>
            <a:r>
              <a:rPr dirty="0" err="1"/>
              <a:t>PanNET</a:t>
            </a:r>
            <a:r>
              <a:rPr dirty="0"/>
              <a:t> patches</a:t>
            </a:r>
            <a:br>
              <a:rPr dirty="0"/>
            </a:br>
            <a:r>
              <a:rPr dirty="0"/>
              <a:t>with non-</a:t>
            </a:r>
            <a:r>
              <a:rPr dirty="0" err="1"/>
              <a:t>PanNET</a:t>
            </a:r>
            <a:br>
              <a:rPr dirty="0"/>
            </a:br>
            <a:r>
              <a:rPr dirty="0"/>
              <a:t>8-neighbors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725" y="2700449"/>
            <a:ext cx="22860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36325" y="2151809"/>
            <a:ext cx="2011680" cy="16459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A1A1A"/>
                </a:solidFill>
              </a:defRPr>
            </a:pPr>
            <a:r>
              <a:rPr dirty="0"/>
              <a:t>3. NNP Inclusion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rPr dirty="0"/>
              <a:t>Include non-tumor</a:t>
            </a:r>
            <a:br>
              <a:rPr dirty="0"/>
            </a:br>
            <a:r>
              <a:rPr dirty="0"/>
              <a:t>patches within</a:t>
            </a:r>
            <a:br>
              <a:rPr dirty="0"/>
            </a:br>
            <a:r>
              <a:rPr dirty="0"/>
              <a:t>r hops of border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48005" y="2700449"/>
            <a:ext cx="22860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276605" y="2151809"/>
            <a:ext cx="2011680" cy="16459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A1A1A"/>
                </a:solidFill>
              </a:defRPr>
            </a:pPr>
            <a:r>
              <a:t>4. Bipartite Edges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Connect ONLY</a:t>
            </a:r>
            <a:br/>
            <a:r>
              <a:t>PanNET ↔ NNP</a:t>
            </a:r>
            <a:br/>
            <a:r>
              <a:t>(no same-class)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88285" y="2700449"/>
            <a:ext cx="22860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516885" y="2151809"/>
            <a:ext cx="2011680" cy="16459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A1A1A"/>
                </a:solidFill>
              </a:defRPr>
            </a:pPr>
            <a:r>
              <a:t>5. Filter Components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Remove clusters</a:t>
            </a:r>
            <a:br/>
            <a:r>
              <a:t>&lt; threshold nodes</a:t>
            </a:r>
            <a:br/>
            <a:r>
              <a:t>(noise removal)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2440" y="5035138"/>
            <a:ext cx="11247120" cy="6400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7AE60"/>
                </a:solidFill>
              </a:defRPr>
            </a:pPr>
            <a:r>
              <a:t>Thesis finding: Bipartite consistently outperforms Full Graph across all neighborhood radii (Table 5.5)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Graph Construction: Hop Distance (Radius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r =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66"/>
                </a:solidFill>
                <a:latin typeface="Calibri"/>
              </a:defRPr>
            </a:pPr>
            <a:r>
              <a:t>8 neighbors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36192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883664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231136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536192" y="2267712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883664" y="2267712"/>
            <a:ext cx="320040" cy="320040"/>
          </a:xfrm>
          <a:prstGeom prst="round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231136" y="2267712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536192" y="2615184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883664" y="2615184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231136" y="2615184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0" y="1097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r =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463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66"/>
                </a:solidFill>
                <a:latin typeface="Calibri"/>
              </a:defRPr>
            </a:pPr>
            <a:r>
              <a:t>24 neighbors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376672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724144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071616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19088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029200" y="2267712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376672" y="2267712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724144" y="2267712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071616" y="2267712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19088" y="2267712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5029200" y="2615184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376672" y="2615184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724144" y="2615184"/>
            <a:ext cx="320040" cy="320040"/>
          </a:xfrm>
          <a:prstGeom prst="round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071616" y="2615184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19088" y="2615184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029200" y="2962656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376672" y="2962656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5724144" y="2962656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071616" y="2962656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419088" y="2962656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5029200" y="3310128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376672" y="3310128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5724144" y="3310128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071616" y="3310128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419088" y="3310128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38160" y="1097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r = 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1463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66"/>
                </a:solidFill>
                <a:latin typeface="Calibri"/>
              </a:defRPr>
            </a:pPr>
            <a:r>
              <a:t>48 neighbors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778240" y="19202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9052560" y="19202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9326880" y="19202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9601200" y="19202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9875520" y="19202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10149840" y="19202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10424160" y="19202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8778240" y="21945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052560" y="21945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9326880" y="21945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9601200" y="21945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9875520" y="21945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10149840" y="21945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10424160" y="21945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8778240" y="246888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9052560" y="246888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9326880" y="246888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9601200" y="246888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9875520" y="246888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10149840" y="246888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10424160" y="246888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8778240" y="274320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9052560" y="274320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9326880" y="274320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9601200" y="2743200"/>
            <a:ext cx="246888" cy="246888"/>
          </a:xfrm>
          <a:prstGeom prst="round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ounded Rectangle 67"/>
          <p:cNvSpPr/>
          <p:nvPr/>
        </p:nvSpPr>
        <p:spPr>
          <a:xfrm>
            <a:off x="9875520" y="274320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ounded Rectangle 68"/>
          <p:cNvSpPr/>
          <p:nvPr/>
        </p:nvSpPr>
        <p:spPr>
          <a:xfrm>
            <a:off x="10149840" y="274320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ounded Rectangle 69"/>
          <p:cNvSpPr/>
          <p:nvPr/>
        </p:nvSpPr>
        <p:spPr>
          <a:xfrm>
            <a:off x="10424160" y="274320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8778240" y="301752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9052560" y="301752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ounded Rectangle 72"/>
          <p:cNvSpPr/>
          <p:nvPr/>
        </p:nvSpPr>
        <p:spPr>
          <a:xfrm>
            <a:off x="9326880" y="301752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9601200" y="301752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9875520" y="301752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ounded Rectangle 75"/>
          <p:cNvSpPr/>
          <p:nvPr/>
        </p:nvSpPr>
        <p:spPr>
          <a:xfrm>
            <a:off x="10149840" y="301752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424160" y="301752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8778240" y="32918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9052560" y="32918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9326880" y="32918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9601200" y="32918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9875520" y="32918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10149840" y="32918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3"/>
          <p:cNvSpPr/>
          <p:nvPr/>
        </p:nvSpPr>
        <p:spPr>
          <a:xfrm>
            <a:off x="10424160" y="32918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ounded Rectangle 84"/>
          <p:cNvSpPr/>
          <p:nvPr/>
        </p:nvSpPr>
        <p:spPr>
          <a:xfrm>
            <a:off x="8778240" y="35661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9052560" y="35661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326880" y="35661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ounded Rectangle 87"/>
          <p:cNvSpPr/>
          <p:nvPr/>
        </p:nvSpPr>
        <p:spPr>
          <a:xfrm>
            <a:off x="9601200" y="35661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9875520" y="35661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89"/>
          <p:cNvSpPr/>
          <p:nvPr/>
        </p:nvSpPr>
        <p:spPr>
          <a:xfrm>
            <a:off x="10149840" y="35661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10424160" y="35661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2966484" y="4553713"/>
            <a:ext cx="228600" cy="228600"/>
          </a:xfrm>
          <a:prstGeom prst="ellipse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3240804" y="4553713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35400"/>
                </a:solidFill>
                <a:latin typeface="Calibri"/>
              </a:defRPr>
            </a:pPr>
            <a:r>
              <a:t>Center patch</a:t>
            </a:r>
          </a:p>
        </p:txBody>
      </p:sp>
      <p:sp>
        <p:nvSpPr>
          <p:cNvPr id="94" name="Oval 93"/>
          <p:cNvSpPr/>
          <p:nvPr/>
        </p:nvSpPr>
        <p:spPr>
          <a:xfrm>
            <a:off x="4795284" y="4553713"/>
            <a:ext cx="228600" cy="2286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5069604" y="4553713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7AE60"/>
                </a:solidFill>
                <a:latin typeface="Calibri"/>
              </a:defRPr>
            </a:pPr>
            <a:r>
              <a:t>Connected neighbor</a:t>
            </a:r>
          </a:p>
        </p:txBody>
      </p:sp>
      <p:sp>
        <p:nvSpPr>
          <p:cNvPr id="96" name="Oval 95"/>
          <p:cNvSpPr/>
          <p:nvPr/>
        </p:nvSpPr>
        <p:spPr>
          <a:xfrm>
            <a:off x="7081284" y="4553713"/>
            <a:ext cx="228600" cy="228600"/>
          </a:xfrm>
          <a:prstGeom prst="ellipse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7355604" y="4553713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Calibri"/>
              </a:defRPr>
            </a:pPr>
            <a:r>
              <a:t>Out of range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72440" y="5263116"/>
            <a:ext cx="11247120" cy="6400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7AE60"/>
                </a:solidFill>
              </a:defRPr>
            </a:pPr>
            <a:r>
              <a:rPr dirty="0"/>
              <a:t>Thesis finding: r=3 is optimal (Table 5.5)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rPr dirty="0">
                <a:solidFill>
                  <a:srgbClr val="C00000"/>
                </a:solidFill>
              </a:rPr>
              <a:t>Stage 5: GIN Model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9492" y="1417320"/>
            <a:ext cx="164592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A1A1A"/>
                </a:solidFill>
              </a:defRPr>
            </a:pPr>
            <a:r>
              <a:rPr dirty="0">
                <a:solidFill>
                  <a:schemeClr val="tx1"/>
                </a:solidFill>
              </a:rPr>
              <a:t>Frozen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Projector</a:t>
            </a:r>
          </a:p>
          <a:p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AE Encoder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1280 → 256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475412" y="20574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749732" y="1417320"/>
            <a:ext cx="137160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A1A1A"/>
                </a:solidFill>
              </a:defRPr>
            </a:pPr>
            <a:r>
              <a:rPr dirty="0" err="1">
                <a:solidFill>
                  <a:schemeClr val="tx1"/>
                </a:solidFill>
              </a:rPr>
              <a:t>RMSNorm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(256)</a:t>
            </a:r>
          </a:p>
          <a:p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Normalize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latent features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21332" y="20574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95652" y="1417320"/>
            <a:ext cx="201168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A1A1A"/>
                </a:solidFill>
              </a:defRPr>
            </a:pPr>
            <a:r>
              <a:rPr dirty="0" err="1">
                <a:solidFill>
                  <a:schemeClr val="tx1"/>
                </a:solidFill>
              </a:rPr>
              <a:t>GINConv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+ Residual</a:t>
            </a:r>
          </a:p>
          <a:p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MLP: 256→256→256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Sum aggregation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7332" y="20574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681652" y="1417320"/>
            <a:ext cx="219456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A1A1A"/>
                </a:solidFill>
              </a:defRPr>
            </a:pPr>
            <a:r>
              <a:rPr dirty="0" err="1">
                <a:solidFill>
                  <a:schemeClr val="tx1"/>
                </a:solidFill>
              </a:rPr>
              <a:t>PanNET</a:t>
            </a:r>
            <a:r>
              <a:rPr dirty="0">
                <a:solidFill>
                  <a:schemeClr val="tx1"/>
                </a:solidFill>
              </a:rPr>
              <a:t>-Only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Pooling</a:t>
            </a:r>
          </a:p>
          <a:p>
            <a:br>
              <a:rPr dirty="0">
                <a:solidFill>
                  <a:schemeClr val="tx1"/>
                </a:solidFill>
              </a:rPr>
            </a:br>
            <a:r>
              <a:rPr dirty="0" err="1">
                <a:solidFill>
                  <a:schemeClr val="tx1"/>
                </a:solidFill>
              </a:rPr>
              <a:t>global_add_pool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over tumor nodes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944792" y="210312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287692" y="1371600"/>
            <a:ext cx="164592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A1A1A"/>
                </a:solidFill>
              </a:defRPr>
            </a:pPr>
            <a:r>
              <a:rPr dirty="0">
                <a:solidFill>
                  <a:schemeClr val="tx1"/>
                </a:solidFill>
              </a:rPr>
              <a:t>Regression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Head</a:t>
            </a:r>
          </a:p>
          <a:p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256→128→1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Huber loss (</a:t>
            </a:r>
            <a:r>
              <a:rPr dirty="0" err="1">
                <a:solidFill>
                  <a:schemeClr val="tx1"/>
                </a:solidFill>
              </a:rPr>
              <a:t>δ</a:t>
            </a:r>
            <a:r>
              <a:rPr dirty="0">
                <a:solidFill>
                  <a:schemeClr val="tx1"/>
                </a:solidFill>
              </a:rPr>
              <a:t>=2)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932" y="3545860"/>
            <a:ext cx="5486400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 dirty="0"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 dirty="0"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MLP: Linear(256,256) → </a:t>
            </a:r>
            <a:r>
              <a:rPr dirty="0" err="1"/>
              <a:t>RMSNorm</a:t>
            </a:r>
            <a:r>
              <a:rPr dirty="0"/>
              <a:t> → </a:t>
            </a:r>
            <a:r>
              <a:rPr dirty="0" err="1"/>
              <a:t>ReLU</a:t>
            </a:r>
            <a:r>
              <a:rPr dirty="0"/>
              <a:t> → Dropout(0.4)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      → Linear(256,256) → </a:t>
            </a:r>
            <a:r>
              <a:rPr dirty="0" err="1"/>
              <a:t>RMSNorm</a:t>
            </a:r>
            <a:r>
              <a:rPr dirty="0"/>
              <a:t> → </a:t>
            </a:r>
            <a:r>
              <a:rPr dirty="0" err="1"/>
              <a:t>ReLU</a:t>
            </a:r>
            <a:endParaRPr dirty="0"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 dirty="0"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Why SUM (not mean/max)?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rPr dirty="0"/>
              <a:t>  Counts tumor-NNP contact points — more invasion = more interfaces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351A5338-D39F-1D2F-DC1A-E3E9A81BF556}"/>
              </a:ext>
            </a:extLst>
          </p:cNvPr>
          <p:cNvSpPr/>
          <p:nvPr/>
        </p:nvSpPr>
        <p:spPr>
          <a:xfrm>
            <a:off x="8179724" y="1406238"/>
            <a:ext cx="3017520" cy="25603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0073141-1196-3A47-B7DA-6CF9243DB5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7113755"/>
              </p:ext>
            </p:extLst>
          </p:nvPr>
        </p:nvGraphicFramePr>
        <p:xfrm>
          <a:off x="124691" y="1670858"/>
          <a:ext cx="7772400" cy="2295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58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0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58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04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198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1604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Fold</a:t>
                      </a:r>
                      <a:r>
                        <a:rPr lang="tr-TR" dirty="0"/>
                        <a:t>t</a:t>
                      </a:r>
                      <a:endParaRPr dirty="0"/>
                    </a:p>
                  </a:txBody>
                  <a:tcPr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Slides With</a:t>
                      </a:r>
                    </a:p>
                  </a:txBody>
                  <a:tcPr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Slides Without</a:t>
                      </a:r>
                    </a:p>
                  </a:txBody>
                  <a:tcPr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Patients OK</a:t>
                      </a:r>
                    </a:p>
                  </a:txBody>
                  <a:tcPr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Patients Missing</a:t>
                      </a:r>
                    </a:p>
                  </a:txBody>
                  <a:tcPr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604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rPr dirty="0"/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rPr dirty="0"/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6  (#32, #45, #47, #52, #68, #69)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604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s2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38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rPr dirty="0"/>
                        <a:t>13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  (#36, #37, #44, #57, #72)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604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6  (#16, #25, #41, #48, #49, #70)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604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s4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44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  (#43, #46, #59, #71, #73)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604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s5 (train only)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rPr dirty="0"/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8BDB7B5C-F648-3CF3-CDA6-7FA854A72987}"/>
              </a:ext>
            </a:extLst>
          </p:cNvPr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rPr dirty="0"/>
              <a:t>What We Have: Cell Composition Per Patch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F0BF6A-D8C2-9C2F-4A79-BE5436186054}"/>
              </a:ext>
            </a:extLst>
          </p:cNvPr>
          <p:cNvSpPr txBox="1"/>
          <p:nvPr/>
        </p:nvSpPr>
        <p:spPr>
          <a:xfrm>
            <a:off x="8362604" y="1589118"/>
            <a:ext cx="2651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rPr dirty="0"/>
              <a:t>Each patch gets a 4-dim vector:</a:t>
            </a:r>
          </a:p>
          <a:p>
            <a:pPr>
              <a:spcAft>
                <a:spcPts val="400"/>
              </a:spcAft>
              <a:defRPr sz="600" b="0">
                <a:solidFill>
                  <a:srgbClr val="1A1A1A"/>
                </a:solidFill>
                <a:latin typeface="Calibri"/>
              </a:defRPr>
            </a:pPr>
            <a:endParaRPr dirty="0"/>
          </a:p>
          <a:p>
            <a:pPr>
              <a:spcAft>
                <a:spcPts val="400"/>
              </a:spcAft>
              <a:defRPr sz="1200" b="0">
                <a:solidFill>
                  <a:srgbClr val="444444"/>
                </a:solidFill>
                <a:latin typeface="Calibri"/>
              </a:defRPr>
            </a:pPr>
            <a:r>
              <a:rPr dirty="0"/>
              <a:t>Example — immune-rich NNP patch:</a:t>
            </a:r>
          </a:p>
          <a:p>
            <a:pPr>
              <a:spcAft>
                <a:spcPts val="400"/>
              </a:spcAft>
              <a:defRPr sz="1400" b="1">
                <a:solidFill>
                  <a:srgbClr val="1A1A1A"/>
                </a:solidFill>
                <a:latin typeface="Calibri"/>
              </a:defRPr>
            </a:pPr>
            <a:r>
              <a:rPr dirty="0"/>
              <a:t>[  2,  45,  12,  0 ]</a:t>
            </a:r>
          </a:p>
          <a:p>
            <a:pPr>
              <a:spcAft>
                <a:spcPts val="40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rPr dirty="0"/>
              <a:t>  2 tumor, 45 immune, 12 other</a:t>
            </a:r>
          </a:p>
          <a:p>
            <a:pPr>
              <a:spcAft>
                <a:spcPts val="400"/>
              </a:spcAft>
              <a:defRPr sz="600" b="0">
                <a:solidFill>
                  <a:srgbClr val="1A1A1A"/>
                </a:solidFill>
                <a:latin typeface="Calibri"/>
              </a:defRPr>
            </a:pPr>
            <a:endParaRPr dirty="0"/>
          </a:p>
          <a:p>
            <a:pPr>
              <a:spcAft>
                <a:spcPts val="400"/>
              </a:spcAft>
              <a:defRPr sz="1200" b="0">
                <a:solidFill>
                  <a:srgbClr val="444444"/>
                </a:solidFill>
                <a:latin typeface="Calibri"/>
              </a:defRPr>
            </a:pPr>
            <a:r>
              <a:rPr dirty="0"/>
              <a:t>Example — dense tumor patch:</a:t>
            </a:r>
          </a:p>
          <a:p>
            <a:pPr>
              <a:spcAft>
                <a:spcPts val="400"/>
              </a:spcAft>
              <a:defRPr sz="1400" b="1">
                <a:solidFill>
                  <a:srgbClr val="1A1A1A"/>
                </a:solidFill>
                <a:latin typeface="Calibri"/>
              </a:defRPr>
            </a:pPr>
            <a:r>
              <a:rPr dirty="0"/>
              <a:t>[ 120,  3,   8,  0 ]</a:t>
            </a:r>
          </a:p>
          <a:p>
            <a:pPr>
              <a:spcAft>
                <a:spcPts val="40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rPr dirty="0"/>
              <a:t>  120 tumor, 3 immune, 8 other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134B6D-84BF-A2BD-D030-05EE5B74AD8D}"/>
              </a:ext>
            </a:extLst>
          </p:cNvPr>
          <p:cNvSpPr txBox="1"/>
          <p:nvPr/>
        </p:nvSpPr>
        <p:spPr>
          <a:xfrm>
            <a:off x="0" y="4265816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44444"/>
                </a:solidFill>
                <a:latin typeface="Calibri"/>
              </a:defRPr>
            </a:pPr>
            <a:r>
              <a:rPr dirty="0"/>
              <a:t>Coverage: 184 / 252 slides (73%), from 51 / 73 patients. Missing slides get zero-filled vectors.</a:t>
            </a:r>
          </a:p>
        </p:txBody>
      </p:sp>
    </p:spTree>
    <p:extLst>
      <p:ext uri="{BB962C8B-B14F-4D97-AF65-F5344CB8AC3E}">
        <p14:creationId xmlns:p14="http://schemas.microsoft.com/office/powerpoint/2010/main" val="11566446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F56A81D-5057-0C08-589C-F13A2F5AE174}"/>
              </a:ext>
            </a:extLst>
          </p:cNvPr>
          <p:cNvSpPr txBox="1"/>
          <p:nvPr/>
        </p:nvSpPr>
        <p:spPr>
          <a:xfrm>
            <a:off x="315883" y="178242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rPr dirty="0"/>
              <a:t>Gate: Per-Edge Message Modulation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F8AB1B7-44BD-BCA8-1237-766198908FE7}"/>
              </a:ext>
            </a:extLst>
          </p:cNvPr>
          <p:cNvSpPr/>
          <p:nvPr/>
        </p:nvSpPr>
        <p:spPr>
          <a:xfrm>
            <a:off x="731520" y="2560320"/>
            <a:ext cx="1463040" cy="1280160"/>
          </a:xfrm>
          <a:prstGeom prst="roundRect">
            <a:avLst/>
          </a:prstGeom>
          <a:solidFill>
            <a:srgbClr val="FCE4E4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Tumor patch (v)</a:t>
            </a:r>
          </a:p>
          <a:p>
            <a:pPr algn="ctr">
              <a:defRPr sz="1000">
                <a:solidFill>
                  <a:srgbClr val="777777"/>
                </a:solidFill>
                <a:latin typeface="Calibri"/>
              </a:defRPr>
            </a:pPr>
            <a:r>
              <a:rPr dirty="0"/>
              <a:t>h(v) = 256-dim</a:t>
            </a:r>
          </a:p>
          <a:p>
            <a:pPr algn="ctr">
              <a:defRPr sz="1000">
                <a:solidFill>
                  <a:srgbClr val="C0392B"/>
                </a:solidFill>
                <a:latin typeface="Calibri"/>
              </a:defRPr>
            </a:pPr>
            <a:r>
              <a:rPr dirty="0"/>
              <a:t>cell(v) = [120, 3, 8, 0]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517C1C5-CD0E-75CE-5414-769F9DC5C569}"/>
              </a:ext>
            </a:extLst>
          </p:cNvPr>
          <p:cNvSpPr/>
          <p:nvPr/>
        </p:nvSpPr>
        <p:spPr>
          <a:xfrm>
            <a:off x="731520" y="914400"/>
            <a:ext cx="1463040" cy="1280160"/>
          </a:xfrm>
          <a:prstGeom prst="roundRect">
            <a:avLst/>
          </a:prstGeom>
          <a:solidFill>
            <a:srgbClr val="E0EEF7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NNP patch (u)</a:t>
            </a:r>
          </a:p>
          <a:p>
            <a:pPr algn="ctr">
              <a:defRPr sz="1000">
                <a:solidFill>
                  <a:srgbClr val="777777"/>
                </a:solidFill>
                <a:latin typeface="Calibri"/>
              </a:defRPr>
            </a:pPr>
            <a:r>
              <a:rPr dirty="0"/>
              <a:t>h(u) = 256-dim</a:t>
            </a:r>
          </a:p>
          <a:p>
            <a:pPr algn="ctr">
              <a:defRPr sz="1000">
                <a:solidFill>
                  <a:srgbClr val="2980B9"/>
                </a:solidFill>
                <a:latin typeface="Calibri"/>
              </a:defRPr>
            </a:pPr>
            <a:r>
              <a:rPr dirty="0"/>
              <a:t>cell(u) = [2, 45, 12, 0]</a:t>
            </a:r>
          </a:p>
        </p:txBody>
      </p:sp>
      <p:cxnSp>
        <p:nvCxnSpPr>
          <p:cNvPr id="6" name="Connector 4">
            <a:extLst>
              <a:ext uri="{FF2B5EF4-FFF2-40B4-BE49-F238E27FC236}">
                <a16:creationId xmlns:a16="http://schemas.microsoft.com/office/drawing/2014/main" id="{E95F4896-C775-A729-FB89-B81DE1474357}"/>
              </a:ext>
            </a:extLst>
          </p:cNvPr>
          <p:cNvCxnSpPr/>
          <p:nvPr/>
        </p:nvCxnSpPr>
        <p:spPr>
          <a:xfrm>
            <a:off x="1463040" y="2194560"/>
            <a:ext cx="0" cy="365760"/>
          </a:xfrm>
          <a:prstGeom prst="line">
            <a:avLst/>
          </a:prstGeom>
          <a:ln w="254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CB52538-24EA-D635-8325-3E9679A2064F}"/>
              </a:ext>
            </a:extLst>
          </p:cNvPr>
          <p:cNvSpPr/>
          <p:nvPr/>
        </p:nvSpPr>
        <p:spPr>
          <a:xfrm>
            <a:off x="2926080" y="914400"/>
            <a:ext cx="3840480" cy="10058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838F1D-B7EA-4A2D-9F27-4D09A67A8903}"/>
              </a:ext>
            </a:extLst>
          </p:cNvPr>
          <p:cNvSpPr txBox="1"/>
          <p:nvPr/>
        </p:nvSpPr>
        <p:spPr>
          <a:xfrm>
            <a:off x="3063240" y="96012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A1A1A"/>
                </a:solidFill>
                <a:latin typeface="Calibri"/>
              </a:defRPr>
            </a:pPr>
            <a:r>
              <a:rPr dirty="0"/>
              <a:t>Step 1: Concatenate cell compositions</a:t>
            </a:r>
          </a:p>
          <a:p>
            <a:pPr>
              <a:spcAft>
                <a:spcPts val="400"/>
              </a:spcAft>
              <a:defRPr sz="1200" b="0">
                <a:solidFill>
                  <a:srgbClr val="444444"/>
                </a:solidFill>
                <a:latin typeface="Calibri"/>
              </a:defRPr>
            </a:pPr>
            <a:r>
              <a:rPr dirty="0" err="1"/>
              <a:t>cell_pair</a:t>
            </a:r>
            <a:r>
              <a:rPr dirty="0"/>
              <a:t> = [ cell(u) || cell(v) ]</a:t>
            </a:r>
          </a:p>
          <a:p>
            <a:pPr>
              <a:spcAft>
                <a:spcPts val="40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rPr dirty="0"/>
              <a:t>= [ 2, 45, 12, 0,  120, 3, 8, 0 ]      (8-dim vector)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E3BC8F6-3834-FE8F-5BC6-CD9F32A727C8}"/>
              </a:ext>
            </a:extLst>
          </p:cNvPr>
          <p:cNvSpPr/>
          <p:nvPr/>
        </p:nvSpPr>
        <p:spPr>
          <a:xfrm>
            <a:off x="2926080" y="2103120"/>
            <a:ext cx="3840480" cy="11887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8C06C-0312-F3AB-FD71-91D13A536444}"/>
              </a:ext>
            </a:extLst>
          </p:cNvPr>
          <p:cNvSpPr txBox="1"/>
          <p:nvPr/>
        </p:nvSpPr>
        <p:spPr>
          <a:xfrm>
            <a:off x="3063240" y="214884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A1A1A"/>
                </a:solidFill>
                <a:latin typeface="Calibri"/>
              </a:defRPr>
            </a:pPr>
            <a:r>
              <a:rPr dirty="0"/>
              <a:t>Step 2: Compute gate (learned)</a:t>
            </a:r>
          </a:p>
          <a:p>
            <a:pPr>
              <a:spcAft>
                <a:spcPts val="400"/>
              </a:spcAft>
              <a:defRPr sz="1200" b="0">
                <a:solidFill>
                  <a:srgbClr val="444444"/>
                </a:solidFill>
                <a:latin typeface="Calibri"/>
              </a:defRPr>
            </a:pPr>
            <a:r>
              <a:rPr dirty="0"/>
              <a:t>gate = sigmoid( MLP( </a:t>
            </a:r>
            <a:r>
              <a:rPr dirty="0" err="1"/>
              <a:t>cell_pair</a:t>
            </a:r>
            <a:r>
              <a:rPr dirty="0"/>
              <a:t> ) )</a:t>
            </a:r>
          </a:p>
          <a:p>
            <a:pPr>
              <a:spcAft>
                <a:spcPts val="400"/>
              </a:spcAft>
              <a:defRPr sz="1000" b="0">
                <a:solidFill>
                  <a:srgbClr val="777777"/>
                </a:solidFill>
                <a:latin typeface="Calibri"/>
              </a:defRPr>
            </a:pPr>
            <a:r>
              <a:rPr dirty="0"/>
              <a:t>MLP: Linear(8, 256) -&gt; </a:t>
            </a:r>
            <a:r>
              <a:rPr dirty="0" err="1"/>
              <a:t>ReLU</a:t>
            </a:r>
            <a:r>
              <a:rPr dirty="0"/>
              <a:t> -&gt; Linear(256, 256) -&gt; Sigmoid</a:t>
            </a:r>
          </a:p>
          <a:p>
            <a:pPr>
              <a:spcAft>
                <a:spcPts val="40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rPr dirty="0"/>
              <a:t>= 256 values, each in [0, 1]  (per-channel on/off)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F0B3D58-0DC0-BA21-A68D-11DC6106D1BB}"/>
              </a:ext>
            </a:extLst>
          </p:cNvPr>
          <p:cNvSpPr/>
          <p:nvPr/>
        </p:nvSpPr>
        <p:spPr>
          <a:xfrm>
            <a:off x="2926080" y="3474720"/>
            <a:ext cx="3840480" cy="10058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E98F33-DE3C-CDEA-18FC-F95E17EAD557}"/>
              </a:ext>
            </a:extLst>
          </p:cNvPr>
          <p:cNvSpPr txBox="1"/>
          <p:nvPr/>
        </p:nvSpPr>
        <p:spPr>
          <a:xfrm>
            <a:off x="3063240" y="352044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A1A1A"/>
                </a:solidFill>
                <a:latin typeface="Calibri"/>
              </a:defRPr>
            </a:pPr>
            <a:r>
              <a:rPr dirty="0"/>
              <a:t>Step 3: Gate the message</a:t>
            </a:r>
          </a:p>
          <a:p>
            <a:pPr>
              <a:spcAft>
                <a:spcPts val="400"/>
              </a:spcAft>
              <a:defRPr sz="1200" b="0">
                <a:solidFill>
                  <a:srgbClr val="444444"/>
                </a:solidFill>
                <a:latin typeface="Calibri"/>
              </a:defRPr>
            </a:pPr>
            <a:r>
              <a:rPr dirty="0"/>
              <a:t>msg = Linear( h(u) ) * gate</a:t>
            </a:r>
          </a:p>
          <a:p>
            <a:pPr>
              <a:spcAft>
                <a:spcPts val="40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rPr dirty="0"/>
              <a:t>Element-wise: 256-dim message modulated by 256-dim gate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F291B7C-ED02-5399-0815-FBE444DD456D}"/>
              </a:ext>
            </a:extLst>
          </p:cNvPr>
          <p:cNvSpPr/>
          <p:nvPr/>
        </p:nvSpPr>
        <p:spPr>
          <a:xfrm>
            <a:off x="2926080" y="4663440"/>
            <a:ext cx="3840480" cy="118872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5DA660-6654-0168-C503-5C2BF463C869}"/>
              </a:ext>
            </a:extLst>
          </p:cNvPr>
          <p:cNvSpPr txBox="1"/>
          <p:nvPr/>
        </p:nvSpPr>
        <p:spPr>
          <a:xfrm>
            <a:off x="3063240" y="4709160"/>
            <a:ext cx="35661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A1A1A"/>
                </a:solidFill>
                <a:latin typeface="Calibri"/>
              </a:defRPr>
            </a:pPr>
            <a:r>
              <a:rPr dirty="0"/>
              <a:t>Step 4: Aggregate all neighbors + Update</a:t>
            </a:r>
          </a:p>
          <a:p>
            <a:pPr>
              <a:spcAft>
                <a:spcPts val="400"/>
              </a:spcAft>
              <a:defRPr sz="1200" b="0">
                <a:solidFill>
                  <a:srgbClr val="444444"/>
                </a:solidFill>
                <a:latin typeface="Calibri"/>
              </a:defRPr>
            </a:pPr>
            <a:r>
              <a:rPr dirty="0" err="1"/>
              <a:t>agg</a:t>
            </a:r>
            <a:r>
              <a:rPr dirty="0"/>
              <a:t> = SUM[ gated messages from all neighbors ]</a:t>
            </a:r>
            <a:endParaRPr lang="en-TR" dirty="0"/>
          </a:p>
          <a:p>
            <a:pPr>
              <a:spcAft>
                <a:spcPts val="400"/>
              </a:spcAft>
              <a:defRPr sz="1200" b="0">
                <a:solidFill>
                  <a:srgbClr val="444444"/>
                </a:solidFill>
                <a:latin typeface="Calibri"/>
              </a:defRPr>
            </a:pPr>
            <a:r>
              <a:rPr lang="en-US" dirty="0" err="1"/>
              <a:t>new_h</a:t>
            </a:r>
            <a:r>
              <a:rPr lang="en-US" dirty="0"/>
              <a:t>(v) = </a:t>
            </a:r>
            <a:r>
              <a:rPr lang="en-US" dirty="0" err="1"/>
              <a:t>MLP_update</a:t>
            </a:r>
            <a:r>
              <a:rPr lang="en-US" dirty="0"/>
              <a:t>( [ h(v) || </a:t>
            </a:r>
            <a:r>
              <a:rPr lang="en-US" dirty="0" err="1"/>
              <a:t>agg</a:t>
            </a:r>
            <a:r>
              <a:rPr lang="en-US" dirty="0"/>
              <a:t> ] ) + h(v)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2D6EE5A-AE5D-4C59-CBA1-D1F65F37E78B}"/>
              </a:ext>
            </a:extLst>
          </p:cNvPr>
          <p:cNvSpPr/>
          <p:nvPr/>
        </p:nvSpPr>
        <p:spPr>
          <a:xfrm>
            <a:off x="7248698" y="1305098"/>
            <a:ext cx="3308465" cy="1778924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E8B825-546B-83B1-F1AF-0A800795BF53}"/>
              </a:ext>
            </a:extLst>
          </p:cNvPr>
          <p:cNvSpPr txBox="1"/>
          <p:nvPr/>
        </p:nvSpPr>
        <p:spPr>
          <a:xfrm>
            <a:off x="7498080" y="1417320"/>
            <a:ext cx="4023360" cy="1174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1A1A1A"/>
                </a:solidFill>
                <a:latin typeface="Calibri"/>
              </a:defRPr>
            </a:pPr>
            <a:endParaRPr dirty="0"/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rPr dirty="0"/>
              <a:t>Key difference from base GIN:</a:t>
            </a:r>
          </a:p>
          <a:p>
            <a:pPr>
              <a:spcAft>
                <a:spcPts val="400"/>
              </a:spcAft>
              <a:defRPr sz="1200" b="0">
                <a:solidFill>
                  <a:srgbClr val="444444"/>
                </a:solidFill>
                <a:latin typeface="Calibri"/>
              </a:defRPr>
            </a:pPr>
            <a:r>
              <a:rPr dirty="0"/>
              <a:t>Base GIN: all neighbors weighted equally.</a:t>
            </a:r>
          </a:p>
          <a:p>
            <a:pPr>
              <a:spcAft>
                <a:spcPts val="400"/>
              </a:spcAft>
              <a:defRPr sz="1200" b="0">
                <a:solidFill>
                  <a:srgbClr val="444444"/>
                </a:solidFill>
                <a:latin typeface="Calibri"/>
              </a:defRPr>
            </a:pPr>
            <a:r>
              <a:rPr dirty="0"/>
              <a:t>Gate GIN: neighbors weighted by their</a:t>
            </a:r>
          </a:p>
          <a:p>
            <a:pPr>
              <a:spcAft>
                <a:spcPts val="400"/>
              </a:spcAft>
              <a:defRPr sz="1200" b="0">
                <a:solidFill>
                  <a:srgbClr val="444444"/>
                </a:solidFill>
                <a:latin typeface="Calibri"/>
              </a:defRPr>
            </a:pPr>
            <a:r>
              <a:rPr dirty="0"/>
              <a:t>cell composition relative to the target</a:t>
            </a:r>
          </a:p>
        </p:txBody>
      </p:sp>
    </p:spTree>
    <p:extLst>
      <p:ext uri="{BB962C8B-B14F-4D97-AF65-F5344CB8AC3E}">
        <p14:creationId xmlns:p14="http://schemas.microsoft.com/office/powerpoint/2010/main" val="24124937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C892F7-03CE-BD69-2C77-316290DC30EB}"/>
              </a:ext>
            </a:extLst>
          </p:cNvPr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Results: Gate vs Baseline (20 runs each, 4 folds x 5 seeds)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3C77A7D-AD19-7DCB-74FC-C3AF1C1E4F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3897690"/>
              </p:ext>
            </p:extLst>
          </p:nvPr>
        </p:nvGraphicFramePr>
        <p:xfrm>
          <a:off x="548640" y="1246909"/>
          <a:ext cx="7040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Metric</a:t>
                      </a:r>
                    </a:p>
                  </a:txBody>
                  <a:tcPr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GIN (none)</a:t>
                      </a:r>
                    </a:p>
                  </a:txBody>
                  <a:tcPr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Cell Gate</a:t>
                      </a:r>
                    </a:p>
                  </a:txBody>
                  <a:tcPr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Difference</a:t>
                      </a:r>
                    </a:p>
                  </a:txBody>
                  <a:tcPr anchor="ctr"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Macro F1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64.45 +/- 8.43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60.32 +/- 9.51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rPr dirty="0"/>
                        <a:t>-4.13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Weighted F1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68.50 +/- 7.65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64.16 +/- 9.98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-4.34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QWK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67.86 +/- 8.59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59.16 +/- 11.45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-8.70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rPr dirty="0"/>
                        <a:t>F1 IPS-</a:t>
                      </a:r>
                      <a:r>
                        <a:rPr lang="tr-TR" dirty="0"/>
                        <a:t>1</a:t>
                      </a:r>
                      <a:endParaRPr dirty="0"/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rPr dirty="0"/>
                        <a:t>57.32 +/- 14.45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51.37 +/- 12.47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-5.95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rPr dirty="0"/>
                        <a:t>F1 IPS-</a:t>
                      </a:r>
                      <a:r>
                        <a:rPr lang="tr-TR" dirty="0"/>
                        <a:t>2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54.95 +/- 10.50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53.98 +/- 12.95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rPr dirty="0"/>
                        <a:t>-0.97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rPr dirty="0"/>
                        <a:t>F1 IPS-</a:t>
                      </a:r>
                      <a:r>
                        <a:rPr lang="tr-TR" dirty="0"/>
                        <a:t>3</a:t>
                      </a:r>
                      <a:endParaRPr dirty="0"/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81.09 +/- 7.99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75.62 +/- 9.95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rPr dirty="0"/>
                        <a:t>-5.47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7285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566</TotalTime>
  <Words>1570</Words>
  <Application>Microsoft Macintosh PowerPoint</Application>
  <PresentationFormat>Widescreen</PresentationFormat>
  <Paragraphs>301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HIKMET SINAN CAKMAK</cp:lastModifiedBy>
  <cp:revision>8</cp:revision>
  <dcterms:created xsi:type="dcterms:W3CDTF">2013-01-27T09:14:16Z</dcterms:created>
  <dcterms:modified xsi:type="dcterms:W3CDTF">2026-03-26T07:40:40Z</dcterms:modified>
  <cp:category/>
</cp:coreProperties>
</file>