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18"/>
  </p:normalViewPr>
  <p:slideViewPr>
    <p:cSldViewPr snapToGrid="0" snapToObjects="1">
      <p:cViewPr>
        <p:scale>
          <a:sx n="149" d="100"/>
          <a:sy n="149" d="100"/>
        </p:scale>
        <p:origin x="-336" y="1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Context-Aware Graph Neural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1A"/>
                </a:solidFill>
                <a:latin typeface="Calibri"/>
              </a:defRPr>
            </a:pPr>
            <a:r>
              <a:t>for PanNET Infiltration Pattern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66"/>
                </a:solidFill>
                <a:latin typeface="Calibri"/>
              </a:defRPr>
            </a:pPr>
            <a:r>
              <a:t>End-to-End Pipeline: WSI → Bipartite GNN → Patient-Level IPS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846320"/>
            <a:ext cx="1828800" cy="82296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Stage 1</a:t>
            </a:r>
            <a:br/>
            <a:r>
              <a:t>WSI → Patches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5120640"/>
            <a:ext cx="3200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46120" y="4846320"/>
            <a:ext cx="1828800" cy="822960"/>
          </a:xfrm>
          <a:prstGeom prst="round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Stage 2</a:t>
            </a:r>
            <a:br/>
            <a:r>
              <a:t>AutoEncoder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74920" y="5120640"/>
            <a:ext cx="3200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94960" y="4846320"/>
            <a:ext cx="182880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Stage 3</a:t>
            </a:r>
            <a:br/>
            <a:r>
              <a:t>Graph Build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23760" y="5120640"/>
            <a:ext cx="3200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43800" y="4846320"/>
            <a:ext cx="1828800" cy="82296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Stage 4</a:t>
            </a:r>
            <a:br/>
            <a:r>
              <a:t>Cache (.pkl)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5120640"/>
            <a:ext cx="3200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92640" y="4846320"/>
            <a:ext cx="182880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Stage 5</a:t>
            </a:r>
            <a:br/>
            <a:r>
              <a:t>GIN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Medical Background: PanNET Infiltration Pattern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How pathologists grade tumor infiltration at the tumor–NNP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09728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Fully demarcated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Round/capsulated tumor, clean boundary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09728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Grade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Mildly irregular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11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Early capsular penetration, clusters attached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1097280" cy="50292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Grade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51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Satellite/projections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Large nodules, connected to main mass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097280" cy="50292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Grade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Peri-tumoral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91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Small clusters nearby, no distant invasion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09728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Grade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31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Non-demarcated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31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Prominent infiltration, clusters far from tumor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Patient-Level 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Sum grades from 3 representative WSIs: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468880"/>
            <a:ext cx="3200400" cy="64008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IPS-A  |  Sum ∈ [3, 6]</a:t>
            </a:r>
          </a:p>
          <a:p>
            <a:pPr>
              <a:defRPr sz="1100">
                <a:solidFill>
                  <a:srgbClr val="555566"/>
                </a:solidFill>
              </a:defRPr>
            </a:pPr>
            <a:r>
              <a:t>Non/minimally infiltrative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3246120"/>
            <a:ext cx="3200400" cy="64008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IPS-B  |  Sum ∈ [7, 9]</a:t>
            </a:r>
          </a:p>
          <a:p>
            <a:pPr>
              <a:defRPr sz="1100">
                <a:solidFill>
                  <a:srgbClr val="555566"/>
                </a:solidFill>
              </a:defRPr>
            </a:pPr>
            <a:r>
              <a:t>Moderately infiltrative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4023360"/>
            <a:ext cx="3200400" cy="64008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IPS-C  |  Sum ∈ [10, 15]</a:t>
            </a:r>
          </a:p>
          <a:p>
            <a:pPr>
              <a:defRPr sz="1100">
                <a:solidFill>
                  <a:srgbClr val="555566"/>
                </a:solidFill>
              </a:defRPr>
            </a:pPr>
            <a:r>
              <a:t>Highly infiltrative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35400"/>
                </a:solidFill>
              </a:defRPr>
            </a:pPr>
            <a:r>
              <a:rPr dirty="0"/>
              <a:t>KEY INSIGHT</a:t>
            </a:r>
          </a:p>
          <a:p>
            <a:pPr>
              <a:defRPr sz="1300">
                <a:solidFill>
                  <a:srgbClr val="1A1A1A"/>
                </a:solidFill>
              </a:defRPr>
            </a:pPr>
            <a:r>
              <a:rPr dirty="0"/>
              <a:t>Infiltration is a SPATIAL property — it depends on HOW tumor interacts with surrounding tissue (NNP), not just what tumor cells look like individually. This is why GNNs are needed: they model spatial relationships between tissue patches.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Dataset &amp; 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Dataset: Koç University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73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252 H&amp;E-stained WSIs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61 patients with 3 WSIs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→ used for IPS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12 patients with &lt;3 WSIs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→ training only (never evaluated)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Grade Distribution (WSI-level)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731520" cy="7315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G1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64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3657600"/>
            <a:ext cx="731520" cy="7315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G2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657600"/>
            <a:ext cx="731520" cy="7315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G3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657600"/>
            <a:ext cx="731520" cy="7315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G4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657600"/>
            <a:ext cx="731520" cy="7315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G5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IPS Distribution (patient-level)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1097280" cy="7315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IPS-A</a:t>
            </a:r>
          </a:p>
          <a:p>
            <a:pPr algn="ctr">
              <a:defRPr sz="1600" b="1">
                <a:solidFill>
                  <a:srgbClr val="1A1A1A"/>
                </a:solidFill>
              </a:defRPr>
            </a:pPr>
            <a:r>
              <a:rPr dirty="0"/>
              <a:t>n=12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5212080"/>
            <a:ext cx="1097280" cy="7315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IPS-B</a:t>
            </a:r>
          </a:p>
          <a:p>
            <a:pPr algn="ctr">
              <a:defRPr sz="1600" b="1">
                <a:solidFill>
                  <a:srgbClr val="1A1A1A"/>
                </a:solidFill>
              </a:defRPr>
            </a:pPr>
            <a:r>
              <a:rPr dirty="0"/>
              <a:t>n=21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212080"/>
            <a:ext cx="1097280" cy="7315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IPS-C</a:t>
            </a:r>
          </a:p>
          <a:p>
            <a:pPr algn="ctr">
              <a:defRPr sz="1600" b="1">
                <a:solidFill>
                  <a:srgbClr val="1A1A1A"/>
                </a:solidFill>
              </a:defRPr>
            </a:pPr>
            <a:r>
              <a:rPr dirty="0"/>
              <a:t>n=28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4-Fold Cross-Validation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5029200" cy="3344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s1, s2, s3, s4: rotate as test/</a:t>
            </a:r>
            <a:r>
              <a:rPr dirty="0" err="1"/>
              <a:t>val</a:t>
            </a:r>
            <a:endParaRPr dirty="0"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s5: always training (incomplete patients)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endParaRPr dirty="0"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Per fold: test=s[</a:t>
            </a:r>
            <a:r>
              <a:rPr dirty="0" err="1"/>
              <a:t>i</a:t>
            </a:r>
            <a:r>
              <a:rPr dirty="0"/>
              <a:t>], </a:t>
            </a:r>
            <a:r>
              <a:rPr dirty="0" err="1"/>
              <a:t>val</a:t>
            </a:r>
            <a:r>
              <a:rPr dirty="0"/>
              <a:t>=s[(i+1)%4]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          train=remaining + s5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endParaRPr dirty="0"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25 random seeds per configuration</a:t>
            </a:r>
          </a:p>
          <a:p>
            <a:pPr marL="171450" indent="-171450">
              <a:spcAft>
                <a:spcPts val="439"/>
              </a:spcAft>
              <a:buFont typeface="Wingdings" pitchFamily="2" charset="2"/>
              <a:buChar char="è"/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lang="tr-TR" dirty="0"/>
              <a:t>I </a:t>
            </a:r>
            <a:r>
              <a:rPr lang="tr-TR" dirty="0" err="1"/>
              <a:t>used</a:t>
            </a:r>
            <a:r>
              <a:rPr lang="tr-TR" dirty="0"/>
              <a:t> 5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make</a:t>
            </a:r>
            <a:r>
              <a:rPr lang="tr-TR" dirty="0"/>
              <a:t> </a:t>
            </a:r>
            <a:r>
              <a:rPr lang="tr-TR" dirty="0" err="1"/>
              <a:t>things</a:t>
            </a:r>
            <a:r>
              <a:rPr lang="tr-TR" dirty="0"/>
              <a:t> </a:t>
            </a:r>
            <a:r>
              <a:rPr lang="tr-TR" dirty="0" err="1"/>
              <a:t>faster</a:t>
            </a:r>
            <a:endParaRPr lang="tr-TR" dirty="0"/>
          </a:p>
          <a:p>
            <a:pPr marL="171450" indent="-171450">
              <a:spcAft>
                <a:spcPts val="439"/>
              </a:spcAft>
              <a:buFont typeface="Wingdings" pitchFamily="2" charset="2"/>
              <a:buChar char="è"/>
              <a:defRPr sz="1200" b="0">
                <a:solidFill>
                  <a:srgbClr val="555566"/>
                </a:solidFill>
                <a:latin typeface="Calibri"/>
              </a:defRPr>
            </a:pPr>
            <a:endParaRPr dirty="0"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Metrics: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  • Per-class F1 (IPS-A, B, C)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  • Macro F1 (unweighted mean)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  • QWK (penalizes distant errors)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  • MAE (mean absolute error)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rPr dirty="0"/>
              <a:t>Pipeline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WSI</a:t>
            </a:r>
            <a:br/>
            <a:r>
              <a:t>(.tiff)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100K×100K px</a:t>
            </a:r>
            <a:br/>
            <a:r>
              <a:t>H&amp;E stained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0" y="16002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560320" y="11887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Tissue</a:t>
            </a:r>
            <a:br>
              <a:rPr dirty="0"/>
            </a:br>
            <a:r>
              <a:rPr dirty="0"/>
              <a:t>Segmentation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 err="1"/>
              <a:t>GrandQC</a:t>
            </a:r>
            <a:br>
              <a:rPr dirty="0"/>
            </a:br>
            <a:r>
              <a:rPr dirty="0"/>
              <a:t>≥60% tissue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480560" y="16002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Patch</a:t>
            </a:r>
            <a:br>
              <a:rPr dirty="0"/>
            </a:br>
            <a:r>
              <a:rPr dirty="0"/>
              <a:t>Extraction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1024×1024 </a:t>
            </a:r>
            <a:r>
              <a:rPr dirty="0" err="1"/>
              <a:t>px</a:t>
            </a:r>
            <a:br>
              <a:rPr dirty="0"/>
            </a:br>
            <a:r>
              <a:rPr dirty="0"/>
              <a:t>@ 40x mag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5120" y="16002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49440" y="11887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VirChow2</a:t>
            </a:r>
            <a:br>
              <a:rPr dirty="0"/>
            </a:br>
            <a:r>
              <a:rPr dirty="0"/>
              <a:t>Encoder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Foundation model</a:t>
            </a:r>
            <a:br>
              <a:rPr dirty="0"/>
            </a:br>
            <a:r>
              <a:rPr dirty="0"/>
              <a:t>→ 1280-d vector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69680" y="16002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0" y="11887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H5 File</a:t>
            </a:r>
            <a:br>
              <a:rPr dirty="0"/>
            </a:br>
            <a:r>
              <a:rPr dirty="0"/>
              <a:t>Output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features (N,1280)</a:t>
            </a:r>
            <a:br>
              <a:rPr dirty="0"/>
            </a:br>
            <a:r>
              <a:rPr dirty="0"/>
              <a:t>coords (N,2)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60720" y="2377440"/>
            <a:ext cx="365760" cy="36576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D3C98"/>
                </a:solidFill>
                <a:latin typeface="Calibri"/>
              </a:defRPr>
            </a:pPr>
            <a:r>
              <a:t>STAGE 2 + 3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0175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 err="1"/>
              <a:t>AutoEncoder</a:t>
            </a:r>
            <a:br>
              <a:rPr dirty="0"/>
            </a:br>
            <a:r>
              <a:rPr dirty="0"/>
              <a:t>(frozen)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86000" y="34290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60320" y="30175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Patch</a:t>
            </a:r>
            <a:br>
              <a:rPr dirty="0"/>
            </a:br>
            <a:r>
              <a:rPr dirty="0"/>
              <a:t>Classifier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3-class MLP</a:t>
            </a:r>
            <a:br>
              <a:rPr dirty="0"/>
            </a:br>
            <a:r>
              <a:rPr dirty="0"/>
              <a:t>Stroma/</a:t>
            </a:r>
            <a:r>
              <a:rPr dirty="0" err="1"/>
              <a:t>PanNET</a:t>
            </a:r>
            <a:r>
              <a:rPr dirty="0"/>
              <a:t>/Normal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80560" y="34290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54880" y="30175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rPr dirty="0"/>
              <a:t>Border</a:t>
            </a:r>
            <a:br>
              <a:rPr dirty="0"/>
            </a:br>
            <a:r>
              <a:rPr dirty="0"/>
              <a:t>Detection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8-connected check</a:t>
            </a:r>
            <a:br>
              <a:rPr dirty="0"/>
            </a:br>
            <a:r>
              <a:rPr dirty="0"/>
              <a:t>+ NNP neighbors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75120" y="34290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49440" y="30175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Bipartite</a:t>
            </a:r>
            <a:br/>
            <a:r>
              <a:t>Graph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PanNET ↔ NNP edges</a:t>
            </a:r>
            <a:br/>
            <a:r>
              <a:t>Chebyshev dist ≤ 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69680" y="34290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0" y="30175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Cache</a:t>
            </a:r>
            <a:br/>
            <a:r>
              <a:t>as .pkl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PyG Data objects</a:t>
            </a:r>
            <a:br/>
            <a:r>
              <a:t>node + edge attrs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760720" y="4206240"/>
            <a:ext cx="365760" cy="36576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STAGE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8463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GIN</a:t>
            </a:r>
            <a:br/>
            <a:r>
              <a:t>Message Passing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Sum aggregation</a:t>
            </a:r>
            <a:br/>
            <a:r>
              <a:t>+ residual connections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86000" y="52578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560320" y="48463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PanNET-Only</a:t>
            </a:r>
            <a:br/>
            <a:r>
              <a:t>Pooling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global_add_pool</a:t>
            </a:r>
            <a:br/>
            <a:r>
              <a:t>tumor nodes only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480560" y="52578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54880" y="48463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Regression</a:t>
            </a:r>
            <a:br/>
            <a:r>
              <a:t>Head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MLP → single grade</a:t>
            </a:r>
            <a:br/>
            <a:r>
              <a:t>Huber loss (δ=2)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675120" y="52578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49440" y="48463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Patient</a:t>
            </a:r>
            <a:br/>
            <a:r>
              <a:t>Aggregation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3 slides → sum</a:t>
            </a:r>
            <a:br/>
            <a:r>
              <a:t>→ IPS (A/B/C)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869680" y="525780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44000" y="4846320"/>
            <a:ext cx="1920240" cy="11887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Evaluation</a:t>
            </a:r>
            <a:br/>
            <a:r>
              <a:t>Metrics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F1, QWK, MAE</a:t>
            </a:r>
            <a:br/>
            <a:r>
              <a:t>4-fold × 25 seeds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74320"/>
            <a:ext cx="62059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rPr dirty="0"/>
              <a:t>Stage 1: </a:t>
            </a:r>
            <a:r>
              <a:rPr lang="tr-TR" dirty="0" err="1"/>
              <a:t>Patch</a:t>
            </a:r>
            <a:r>
              <a:rPr dirty="0"/>
              <a:t> → Feature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99" y="1663698"/>
            <a:ext cx="3200400" cy="22860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980B9"/>
                </a:solidFill>
              </a:defRPr>
            </a:pPr>
            <a:r>
              <a:rPr dirty="0"/>
              <a:t>Whole Slide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5" y="2235200"/>
            <a:ext cx="457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98447" y="2235200"/>
            <a:ext cx="457200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799" y="2235200"/>
            <a:ext cx="457200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59151" y="2235200"/>
            <a:ext cx="457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89503" y="2235200"/>
            <a:ext cx="457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5" y="2600960"/>
            <a:ext cx="457200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98447" y="2600960"/>
            <a:ext cx="457200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28799" y="2600960"/>
            <a:ext cx="457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59151" y="2600960"/>
            <a:ext cx="457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89503" y="2600960"/>
            <a:ext cx="457200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8095" y="2966720"/>
            <a:ext cx="457200" cy="29260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98447" y="2966720"/>
            <a:ext cx="457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28799" y="2966720"/>
            <a:ext cx="457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359151" y="2966720"/>
            <a:ext cx="457200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89503" y="2966720"/>
            <a:ext cx="457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68095" y="3332480"/>
            <a:ext cx="457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298447" y="3332480"/>
            <a:ext cx="457200" cy="29260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828799" y="3332480"/>
            <a:ext cx="457200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359151" y="3332480"/>
            <a:ext cx="457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89503" y="3332480"/>
            <a:ext cx="457200" cy="292608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85215" y="4155439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5" y="41554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7AE60"/>
                </a:solidFill>
                <a:latin typeface="Calibri"/>
              </a:defRPr>
            </a:pPr>
            <a:r>
              <a:t>PanNET</a:t>
            </a:r>
          </a:p>
        </p:txBody>
      </p:sp>
      <p:sp>
        <p:nvSpPr>
          <p:cNvPr id="26" name="Oval 25"/>
          <p:cNvSpPr/>
          <p:nvPr/>
        </p:nvSpPr>
        <p:spPr>
          <a:xfrm>
            <a:off x="1682495" y="4155439"/>
            <a:ext cx="228600" cy="2286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56815" y="41554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Stroma</a:t>
            </a:r>
          </a:p>
        </p:txBody>
      </p:sp>
      <p:sp>
        <p:nvSpPr>
          <p:cNvPr id="28" name="Oval 27"/>
          <p:cNvSpPr/>
          <p:nvPr/>
        </p:nvSpPr>
        <p:spPr>
          <a:xfrm>
            <a:off x="2688335" y="4155439"/>
            <a:ext cx="228600" cy="2286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62655" y="41554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968495" y="2509520"/>
            <a:ext cx="640080" cy="365760"/>
          </a:xfrm>
          <a:prstGeom prst="rightArrow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791455" y="1595120"/>
            <a:ext cx="2926080" cy="27432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980B9"/>
                </a:solidFill>
              </a:defRPr>
            </a:pPr>
            <a:r>
              <a:rPr sz="1400" b="1" dirty="0">
                <a:solidFill>
                  <a:srgbClr val="2980B9"/>
                </a:solidFill>
              </a:rPr>
              <a:t>VirChow2</a:t>
            </a:r>
          </a:p>
          <a:p>
            <a:pPr algn="ctr">
              <a:defRPr sz="1100">
                <a:solidFill>
                  <a:srgbClr val="1A1A1A"/>
                </a:solidFill>
              </a:defRPr>
            </a:pPr>
            <a:r>
              <a:rPr dirty="0"/>
              <a:t>Foundation Model</a:t>
            </a:r>
          </a:p>
          <a:p>
            <a:pPr algn="ctr">
              <a:defRPr sz="1100">
                <a:solidFill>
                  <a:srgbClr val="1A1A1A"/>
                </a:solidFill>
              </a:defRPr>
            </a:pPr>
            <a:endParaRPr lang="tr-TR" dirty="0"/>
          </a:p>
          <a:p>
            <a:pPr algn="ctr">
              <a:defRPr sz="1100">
                <a:solidFill>
                  <a:srgbClr val="1A1A1A"/>
                </a:solidFill>
              </a:defRPr>
            </a:pPr>
            <a:endParaRPr lang="en-TR" dirty="0"/>
          </a:p>
          <a:p>
            <a:pPr algn="ctr">
              <a:defRPr sz="1100">
                <a:solidFill>
                  <a:srgbClr val="1A1A1A"/>
                </a:solidFill>
              </a:defRPr>
            </a:pPr>
            <a:endParaRPr dirty="0"/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Input: 1024×1024×3 patch</a:t>
            </a:r>
          </a:p>
          <a:p>
            <a:pPr algn="ctr">
              <a:defRPr sz="1100">
                <a:solidFill>
                  <a:srgbClr val="27AE60"/>
                </a:solidFill>
              </a:defRPr>
            </a:pPr>
            <a:r>
              <a:rPr dirty="0"/>
              <a:t>Output: 1280-d vector</a:t>
            </a:r>
          </a:p>
          <a:p>
            <a:pPr algn="ctr">
              <a:defRPr sz="1100">
                <a:solidFill>
                  <a:srgbClr val="1A1A1A"/>
                </a:solidFill>
              </a:defRPr>
            </a:pPr>
            <a:endParaRPr lang="tr-TR" dirty="0"/>
          </a:p>
          <a:p>
            <a:pPr algn="ctr">
              <a:defRPr sz="1100">
                <a:solidFill>
                  <a:srgbClr val="1A1A1A"/>
                </a:solidFill>
              </a:defRPr>
            </a:pPr>
            <a:endParaRPr dirty="0"/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Captures: cell morphology,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tissue structure, staining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900415" y="2509520"/>
            <a:ext cx="640080" cy="365760"/>
          </a:xfrm>
          <a:prstGeom prst="rightArrow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723375" y="1595120"/>
            <a:ext cx="3108960" cy="27432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rPr dirty="0"/>
              <a:t>H5 File (per slide)</a:t>
            </a:r>
            <a:endParaRPr lang="tr-TR" dirty="0"/>
          </a:p>
          <a:p>
            <a:pPr algn="ctr">
              <a:defRPr sz="1600" b="1">
                <a:solidFill>
                  <a:srgbClr val="27AE60"/>
                </a:solidFill>
              </a:defRPr>
            </a:pPr>
            <a:endParaRPr dirty="0"/>
          </a:p>
          <a:p>
            <a:pPr algn="l">
              <a:defRPr sz="1100">
                <a:solidFill>
                  <a:srgbClr val="27AE60"/>
                </a:solidFill>
                <a:latin typeface="Consolas"/>
              </a:defRPr>
            </a:pPr>
            <a:r>
              <a:rPr dirty="0"/>
              <a:t>features     (N, 1280)</a:t>
            </a:r>
          </a:p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r>
              <a:rPr dirty="0"/>
              <a:t>coords       (N, 2)</a:t>
            </a:r>
          </a:p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r>
              <a:rPr dirty="0" err="1"/>
              <a:t>patch_classes</a:t>
            </a:r>
            <a:r>
              <a:rPr dirty="0"/>
              <a:t> (N,)</a:t>
            </a:r>
          </a:p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r>
              <a:rPr dirty="0" err="1"/>
              <a:t>tissue_id</a:t>
            </a:r>
            <a:r>
              <a:rPr dirty="0"/>
              <a:t>    (N,)</a:t>
            </a:r>
          </a:p>
          <a:p>
            <a:pPr algn="l">
              <a:defRPr sz="1100">
                <a:solidFill>
                  <a:srgbClr val="555566"/>
                </a:solidFill>
                <a:latin typeface="Consolas"/>
              </a:defRPr>
            </a:pPr>
            <a:r>
              <a:rPr dirty="0" err="1"/>
              <a:t>slide_width</a:t>
            </a:r>
            <a:r>
              <a:rPr dirty="0"/>
              <a:t>  scalar</a:t>
            </a:r>
          </a:p>
          <a:p>
            <a:pPr algn="l">
              <a:defRPr sz="1100">
                <a:solidFill>
                  <a:srgbClr val="555566"/>
                </a:solidFill>
                <a:latin typeface="Consolas"/>
              </a:defRPr>
            </a:pPr>
            <a:r>
              <a:rPr dirty="0" err="1"/>
              <a:t>slide_height</a:t>
            </a:r>
            <a:r>
              <a:rPr dirty="0"/>
              <a:t> scalar</a:t>
            </a:r>
          </a:p>
          <a:p>
            <a:pPr algn="l">
              <a:defRPr sz="1100">
                <a:solidFill>
                  <a:srgbClr val="1A1A1A"/>
                </a:solidFill>
                <a:latin typeface="Consolas"/>
              </a:defRPr>
            </a:pPr>
            <a:endParaRPr dirty="0"/>
          </a:p>
          <a:p>
            <a:pPr algn="l">
              <a:defRPr sz="1100">
                <a:solidFill>
                  <a:srgbClr val="D35400"/>
                </a:solidFill>
                <a:latin typeface="Consolas"/>
              </a:defRPr>
            </a:pPr>
            <a:r>
              <a:rPr dirty="0"/>
              <a:t>252 slides → 252 H5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615" y="4795521"/>
            <a:ext cx="10972800" cy="55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9"/>
              </a:spcAft>
              <a:defRPr sz="1300" b="0">
                <a:solidFill>
                  <a:srgbClr val="555566"/>
                </a:solidFill>
                <a:latin typeface="Calibri"/>
              </a:defRPr>
            </a:pPr>
            <a:r>
              <a:rPr dirty="0"/>
              <a:t>• 40x magnification  |  1024×1024 </a:t>
            </a:r>
            <a:r>
              <a:rPr dirty="0" err="1"/>
              <a:t>px</a:t>
            </a:r>
            <a:r>
              <a:rPr dirty="0"/>
              <a:t> patches  |  ≥60% tissue threshold  |  </a:t>
            </a:r>
            <a:r>
              <a:rPr dirty="0" err="1"/>
              <a:t>GrandQC</a:t>
            </a:r>
            <a:r>
              <a:rPr dirty="0"/>
              <a:t> segmentation</a:t>
            </a:r>
          </a:p>
          <a:p>
            <a:pPr>
              <a:spcAft>
                <a:spcPts val="459"/>
              </a:spcAft>
              <a:defRPr sz="1300" b="0">
                <a:solidFill>
                  <a:srgbClr val="555566"/>
                </a:solidFill>
                <a:latin typeface="Calibri"/>
              </a:defRPr>
            </a:pPr>
            <a:r>
              <a:rPr dirty="0"/>
              <a:t>• Patch classifier: MLP (2560→256→128→3)  —  F1: </a:t>
            </a:r>
            <a:r>
              <a:rPr dirty="0" err="1"/>
              <a:t>PanNET</a:t>
            </a:r>
            <a:r>
              <a:rPr dirty="0"/>
              <a:t> 97.2%, Normal 96.2%, Stroma 90.9%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Stage 2: AutoEncoder — Feature 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rPr dirty="0"/>
              <a:t>Why? 1280-d features → overfitting on small dataset (73 patients). Compress to 256-d.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9720" y="2354580"/>
            <a:ext cx="1188720" cy="13716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1A1A"/>
                </a:solidFill>
              </a:defRPr>
            </a:pPr>
            <a:r>
              <a:t>1280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9720" y="1897380"/>
            <a:ext cx="118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Input</a:t>
            </a:r>
            <a:br/>
            <a:r>
              <a:t>(VirChow2)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28440" y="2948940"/>
            <a:ext cx="13716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65600" y="2491740"/>
            <a:ext cx="1188720" cy="109728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1A1A"/>
                </a:solidFill>
              </a:defRPr>
            </a:pPr>
            <a:r>
              <a:t>768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54320" y="2948940"/>
            <a:ext cx="13716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91480" y="2628900"/>
            <a:ext cx="1188720" cy="82296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1A1A"/>
                </a:solidFill>
              </a:defRPr>
            </a:pPr>
            <a:r>
              <a:t>512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80200" y="2948940"/>
            <a:ext cx="137160" cy="18288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17360" y="2720340"/>
            <a:ext cx="1188720" cy="64008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1A1A"/>
                </a:solidFill>
              </a:defRPr>
            </a:pPr>
            <a:r>
              <a:t>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7360" y="2263140"/>
            <a:ext cx="118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Latent</a:t>
            </a:r>
            <a:br/>
            <a:r>
              <a:t>(keep this)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06080" y="2948940"/>
            <a:ext cx="13716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43240" y="2628900"/>
            <a:ext cx="1188720" cy="82296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1A1A"/>
                </a:solidFill>
              </a:defRPr>
            </a:pPr>
            <a:r>
              <a:t>512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31960" y="2948940"/>
            <a:ext cx="13716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69120" y="2491740"/>
            <a:ext cx="1188720" cy="109728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1A1A"/>
                </a:solidFill>
              </a:defRPr>
            </a:pPr>
            <a:r>
              <a:t>768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657840" y="2948940"/>
            <a:ext cx="13716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795000" y="2354580"/>
            <a:ext cx="1188720" cy="13716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A1A1A"/>
                </a:solidFill>
              </a:defRPr>
            </a:pPr>
            <a:r>
              <a:t>1280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0" y="1897380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Reconstruction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9720" y="45948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D3C98"/>
                </a:solidFill>
                <a:latin typeface="Calibri"/>
              </a:defRPr>
            </a:pPr>
            <a:r>
              <a:t>◄─── ENCODER ───►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1800" y="45948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F8C8D"/>
                </a:solidFill>
                <a:latin typeface="Calibri"/>
              </a:defRPr>
            </a:pPr>
            <a:r>
              <a:t>◄─── DECODER ───►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700" y="1897380"/>
            <a:ext cx="2377440" cy="385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lang="en-US" sz="1600" b="1" dirty="0"/>
              <a:t>Training Details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endParaRPr lang="tr-TR" dirty="0"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Loss: MSE + variance reg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Optimizer: </a:t>
            </a:r>
            <a:r>
              <a:rPr dirty="0" err="1"/>
              <a:t>AdamW</a:t>
            </a:r>
            <a:endParaRPr dirty="0"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LR: 1e-3, WD: 1e-4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Batch size: 4096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Epochs: 50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Early stopping: patience 10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Split: 90/10 by H5 file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endParaRPr dirty="0"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Each layer: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  Linear → </a:t>
            </a:r>
            <a:r>
              <a:rPr dirty="0" err="1"/>
              <a:t>RMSNorm</a:t>
            </a:r>
            <a:r>
              <a:rPr dirty="0"/>
              <a:t> → GELU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  + Dropout(0.2) in encoder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endParaRPr dirty="0"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After training: FREEZE encoder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rPr dirty="0"/>
              <a:t>Use as fixed projector in GNN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rPr dirty="0"/>
              <a:t>Stage 3: Graph Construction</a:t>
            </a:r>
            <a:r>
              <a:rPr lang="tr-TR" dirty="0"/>
              <a:t> (</a:t>
            </a:r>
            <a:r>
              <a:rPr lang="en-US" dirty="0"/>
              <a:t>Bipartite)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55765" y="2151809"/>
            <a:ext cx="2011680" cy="16459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rPr dirty="0"/>
              <a:t>1. Hole Filling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Fill gaps inside</a:t>
            </a:r>
            <a:br>
              <a:rPr dirty="0"/>
            </a:br>
            <a:r>
              <a:rPr dirty="0"/>
              <a:t>tumor regions</a:t>
            </a:r>
            <a:br>
              <a:rPr dirty="0"/>
            </a:br>
            <a:r>
              <a:rPr dirty="0"/>
              <a:t>(morphological)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7445" y="2700449"/>
            <a:ext cx="22860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96045" y="2151809"/>
            <a:ext cx="2011680" cy="16459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rPr dirty="0"/>
              <a:t>2. Border Detection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Find </a:t>
            </a:r>
            <a:r>
              <a:rPr dirty="0" err="1"/>
              <a:t>PanNET</a:t>
            </a:r>
            <a:r>
              <a:rPr dirty="0"/>
              <a:t> patches</a:t>
            </a:r>
            <a:br>
              <a:rPr dirty="0"/>
            </a:br>
            <a:r>
              <a:rPr dirty="0"/>
              <a:t>with non-</a:t>
            </a:r>
            <a:r>
              <a:rPr dirty="0" err="1"/>
              <a:t>PanNET</a:t>
            </a:r>
            <a:br>
              <a:rPr dirty="0"/>
            </a:br>
            <a:r>
              <a:rPr dirty="0"/>
              <a:t>8-neighbors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725" y="2700449"/>
            <a:ext cx="22860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36325" y="2151809"/>
            <a:ext cx="2011680" cy="16459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rPr dirty="0"/>
              <a:t>3. NNP Inclusion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rPr dirty="0"/>
              <a:t>Include non-tumor</a:t>
            </a:r>
            <a:br>
              <a:rPr dirty="0"/>
            </a:br>
            <a:r>
              <a:rPr dirty="0"/>
              <a:t>patches within</a:t>
            </a:r>
            <a:br>
              <a:rPr dirty="0"/>
            </a:br>
            <a:r>
              <a:rPr dirty="0"/>
              <a:t>r hops of border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48005" y="2700449"/>
            <a:ext cx="22860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76605" y="2151809"/>
            <a:ext cx="2011680" cy="16459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4. Bipartite Edges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Connect ONLY</a:t>
            </a:r>
            <a:br/>
            <a:r>
              <a:t>PanNET ↔ NNP</a:t>
            </a:r>
            <a:br/>
            <a:r>
              <a:t>(no same-class)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8285" y="2700449"/>
            <a:ext cx="22860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516885" y="2151809"/>
            <a:ext cx="2011680" cy="164592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A1A1A"/>
                </a:solidFill>
              </a:defRPr>
            </a:pPr>
            <a:r>
              <a:t>5. Filter Components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Remove clusters</a:t>
            </a:r>
            <a:br/>
            <a:r>
              <a:t>&lt; threshold nodes</a:t>
            </a:r>
            <a:br/>
            <a:r>
              <a:t>(noise removal)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2440" y="5035138"/>
            <a:ext cx="11247120" cy="64008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t>Thesis finding: Bipartite consistently outperforms Full Graph across all neighborhood radii (Table 5.5)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Graph Construction: Hop Distance (Radius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r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  <a:latin typeface="Calibri"/>
              </a:defRPr>
            </a:pPr>
            <a:r>
              <a:t>8 neighbors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36192" y="1920240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83664" y="1920240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31136" y="1920240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36192" y="2267712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83664" y="2267712"/>
            <a:ext cx="320040" cy="32004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231136" y="2267712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36192" y="2615184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883664" y="2615184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231136" y="2615184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r 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  <a:latin typeface="Calibri"/>
              </a:defRPr>
            </a:pPr>
            <a:r>
              <a:t>24 neighbors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920240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76672" y="1920240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24144" y="1920240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71616" y="1920240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19088" y="1920240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0" y="2267712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376672" y="2267712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24144" y="2267712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71616" y="2267712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19088" y="2267712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029200" y="2615184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376672" y="2615184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24144" y="2615184"/>
            <a:ext cx="320040" cy="32004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71616" y="2615184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19088" y="2615184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29200" y="2962656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376672" y="2962656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724144" y="2962656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071616" y="2962656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19088" y="2962656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029200" y="3310128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376672" y="3310128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724144" y="3310128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071616" y="3310128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19088" y="3310128"/>
            <a:ext cx="32004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r =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66"/>
                </a:solidFill>
                <a:latin typeface="Calibri"/>
              </a:defRPr>
            </a:pPr>
            <a:r>
              <a:t>48 neighbors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78240" y="19202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052560" y="19202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326880" y="19202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601200" y="19202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875520" y="19202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149840" y="19202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424160" y="19202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778240" y="21945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052560" y="21945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326880" y="21945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601200" y="21945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875520" y="21945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149840" y="21945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424160" y="21945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778240" y="246888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052560" y="246888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326880" y="246888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601200" y="246888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875520" y="246888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149840" y="246888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0424160" y="246888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778240" y="274320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052560" y="274320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326880" y="274320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9601200" y="2743200"/>
            <a:ext cx="246888" cy="246888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9875520" y="274320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0149840" y="274320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0424160" y="274320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778240" y="301752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9052560" y="301752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326880" y="301752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601200" y="301752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9875520" y="301752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10149840" y="301752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0424160" y="301752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778240" y="32918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9052560" y="32918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9326880" y="32918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9601200" y="32918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9875520" y="32918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10149840" y="32918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10424160" y="329184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8778240" y="35661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9052560" y="35661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9326880" y="35661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9601200" y="35661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9875520" y="35661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10149840" y="35661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10424160" y="3566160"/>
            <a:ext cx="246888" cy="2468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966484" y="4553713"/>
            <a:ext cx="228600" cy="228600"/>
          </a:xfrm>
          <a:prstGeom prst="ellipse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240804" y="45537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35400"/>
                </a:solidFill>
                <a:latin typeface="Calibri"/>
              </a:defRPr>
            </a:pPr>
            <a:r>
              <a:t>Center patch</a:t>
            </a:r>
          </a:p>
        </p:txBody>
      </p:sp>
      <p:sp>
        <p:nvSpPr>
          <p:cNvPr id="94" name="Oval 93"/>
          <p:cNvSpPr/>
          <p:nvPr/>
        </p:nvSpPr>
        <p:spPr>
          <a:xfrm>
            <a:off x="4795284" y="4553713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069604" y="45537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7AE60"/>
                </a:solidFill>
                <a:latin typeface="Calibri"/>
              </a:defRPr>
            </a:pPr>
            <a:r>
              <a:t>Connected neighbor</a:t>
            </a:r>
          </a:p>
        </p:txBody>
      </p:sp>
      <p:sp>
        <p:nvSpPr>
          <p:cNvPr id="96" name="Oval 95"/>
          <p:cNvSpPr/>
          <p:nvPr/>
        </p:nvSpPr>
        <p:spPr>
          <a:xfrm>
            <a:off x="7081284" y="4553713"/>
            <a:ext cx="228600" cy="228600"/>
          </a:xfrm>
          <a:prstGeom prst="ellipse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355604" y="45537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Out of range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72440" y="5263116"/>
            <a:ext cx="11247120" cy="64008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7AE60"/>
                </a:solidFill>
              </a:defRPr>
            </a:pPr>
            <a:r>
              <a:rPr dirty="0"/>
              <a:t>Thesis finding: r=3 is optimal (Table 5.5)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Stage 5: GIN Model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164592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rPr dirty="0"/>
              <a:t>Frozen</a:t>
            </a:r>
            <a:br>
              <a:rPr dirty="0"/>
            </a:br>
            <a:r>
              <a:rPr dirty="0"/>
              <a:t>Projector</a:t>
            </a:r>
          </a:p>
          <a:p>
            <a:br>
              <a:rPr dirty="0"/>
            </a:br>
            <a:r>
              <a:rPr dirty="0"/>
              <a:t>AE Encoder</a:t>
            </a:r>
            <a:br>
              <a:rPr dirty="0"/>
            </a:br>
            <a:r>
              <a:rPr dirty="0"/>
              <a:t>1280 → 256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920240" y="192024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94560" y="1280160"/>
            <a:ext cx="137160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RMSNorm</a:t>
            </a:r>
            <a:br/>
            <a:r>
              <a:t>(256)</a:t>
            </a:r>
          </a:p>
          <a:p>
            <a:br/>
            <a:r>
              <a:t>Normalize</a:t>
            </a:r>
            <a:br/>
            <a:r>
              <a:t>latent features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66160" y="192024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0" y="1280160"/>
            <a:ext cx="201168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GINConv</a:t>
            </a:r>
            <a:br/>
            <a:r>
              <a:t>+ Residual</a:t>
            </a:r>
          </a:p>
          <a:p>
            <a:br/>
            <a:r>
              <a:t>MLP: 256→256→256</a:t>
            </a:r>
            <a:br/>
            <a:r>
              <a:t>Sum aggregation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192024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164592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PanNET-Only</a:t>
            </a:r>
            <a:br/>
            <a:r>
              <a:t>Pooling</a:t>
            </a:r>
          </a:p>
          <a:p>
            <a:br/>
            <a:r>
              <a:t>global_add_pool</a:t>
            </a:r>
            <a:br/>
            <a:r>
              <a:t>over tumor nodes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400" y="1920240"/>
            <a:ext cx="27432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164592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A1A1A"/>
                </a:solidFill>
              </a:defRPr>
            </a:pPr>
            <a:r>
              <a:t>Regression</a:t>
            </a:r>
            <a:br/>
            <a:r>
              <a:t>Head</a:t>
            </a:r>
          </a:p>
          <a:p>
            <a:br/>
            <a:r>
              <a:t>256→128→1</a:t>
            </a:r>
            <a:br/>
            <a:r>
              <a:t>Huber loss (δ=2)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GINConv Layer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t>h_v^(k) = MLP( (1+ε) · h_v^(k-1) + Σ h_u^(k-1) )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endParaRPr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t>MLP: Linear(256,256) → RMSNorm → ReLU → Dropout(0.4)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t>      → Linear(256,256) → RMSNorm → ReLU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endParaRPr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t>Residual: x = GINConv(dropout(x)) + x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endParaRPr/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t>Why SUM (not mean/max)?</a:t>
            </a:r>
          </a:p>
          <a:p>
            <a:pPr>
              <a:spcAft>
                <a:spcPts val="439"/>
              </a:spcAft>
              <a:defRPr sz="1200" b="0">
                <a:solidFill>
                  <a:srgbClr val="555566"/>
                </a:solidFill>
                <a:latin typeface="Calibri"/>
              </a:defRPr>
            </a:pPr>
            <a:r>
              <a:t>  Counts tumor-NNP contact points — more invasion = more interfaces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Model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D3C98"/>
                </a:solidFill>
                <a:latin typeface="Calibri"/>
              </a:defRPr>
            </a:pPr>
            <a:r>
              <a:t>AutoEncoder (frozen)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D3C98"/>
                </a:solidFill>
                <a:latin typeface="Calibri"/>
              </a:defRPr>
            </a:pPr>
            <a:r>
              <a:t>3,021,312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alibri"/>
              </a:defRPr>
            </a:pPr>
            <a:r>
              <a:t>GIN (1 layer)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132,096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5400"/>
                </a:solidFill>
                <a:latin typeface="Calibri"/>
              </a:defRPr>
            </a:pPr>
            <a:r>
              <a:t>Regression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846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5400"/>
                </a:solidFill>
                <a:latin typeface="Calibri"/>
              </a:defRPr>
            </a:pPr>
            <a:r>
              <a:t>33,665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Total trainable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165,761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Training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852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 b="0">
                <a:solidFill>
                  <a:srgbClr val="555566"/>
                </a:solidFill>
                <a:latin typeface="Calibri"/>
              </a:defRPr>
            </a:pPr>
            <a:r>
              <a:t>AdamW | LR: 1e-4 | WD: 1e-3 | Batch: 8</a:t>
            </a:r>
          </a:p>
          <a:p>
            <a:pPr>
              <a:spcAft>
                <a:spcPts val="419"/>
              </a:spcAft>
              <a:defRPr sz="1100" b="0">
                <a:solidFill>
                  <a:srgbClr val="555566"/>
                </a:solidFill>
                <a:latin typeface="Calibri"/>
              </a:defRPr>
            </a:pPr>
            <a:r>
              <a:t>Max 200 epochs | Early stop: patience 15</a:t>
            </a:r>
          </a:p>
          <a:p>
            <a:pPr>
              <a:spcAft>
                <a:spcPts val="419"/>
              </a:spcAft>
              <a:defRPr sz="1100" b="0">
                <a:solidFill>
                  <a:srgbClr val="555566"/>
                </a:solidFill>
                <a:latin typeface="Calibri"/>
              </a:defRPr>
            </a:pPr>
            <a:r>
              <a:t>Scheduler: ReduceLROnPlateau (0.8, pat=5)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Key Insight: Why Bipartite + PanNET-Only Pooling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Bipartite Message Passing (1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66"/>
                </a:solidFill>
                <a:latin typeface="Calibri"/>
              </a:defRPr>
            </a:pPr>
            <a:r>
              <a:t>Before GNN: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21031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7" name="Oval 6"/>
          <p:cNvSpPr/>
          <p:nvPr/>
        </p:nvSpPr>
        <p:spPr>
          <a:xfrm>
            <a:off x="2560320" y="21031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29260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29260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T nodes: tumor features only</a:t>
            </a:r>
            <a:br/>
            <a:r>
              <a:t>S nodes: stroma features only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74720" y="2560320"/>
            <a:ext cx="914400" cy="365760"/>
          </a:xfrm>
          <a:prstGeom prst="rightArrow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35400"/>
                </a:solidFill>
                <a:latin typeface="Calibri"/>
              </a:defRPr>
            </a:pPr>
            <a:r>
              <a:t>GIN</a:t>
            </a:r>
            <a:br/>
            <a:r>
              <a:t>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66"/>
                </a:solidFill>
                <a:latin typeface="Calibri"/>
              </a:defRPr>
            </a:pPr>
            <a:r>
              <a:t>After GNN: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21031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T+S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0" y="21031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T+S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2103120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T+S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29260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S+T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29260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S+T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29260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S+T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T nodes: tumor + NNP context</a:t>
            </a:r>
            <a:br/>
            <a:r>
              <a:t>S nodes: stroma + tumor context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98079" y="2560320"/>
            <a:ext cx="731520" cy="365760"/>
          </a:xfrm>
          <a:prstGeom prst="rightArrow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0" y="1645920"/>
            <a:ext cx="3200400" cy="22860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Pool PanNET Only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endParaRPr/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global_add_pool(T nodes)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endParaRPr/>
          </a:p>
          <a:p>
            <a:pPr algn="ctr">
              <a:defRPr sz="1100">
                <a:solidFill>
                  <a:srgbClr val="D35400"/>
                </a:solidFill>
              </a:defRPr>
            </a:pPr>
            <a:r>
              <a:t>NNP info already absorbed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into T embeddings via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message passing.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endParaRPr/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Pooling S nodes would</a:t>
            </a:r>
          </a:p>
          <a:p>
            <a:pPr algn="ctr">
              <a:defRPr sz="1100">
                <a:solidFill>
                  <a:srgbClr val="D35400"/>
                </a:solidFill>
              </a:defRPr>
            </a:pPr>
            <a:r>
              <a:t>DILUTE the tumor signal.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347472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MIL (no graph)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Treats patches independently</a:t>
            </a:r>
            <a:br/>
            <a:r>
              <a:t>Loses spatial relationships</a:t>
            </a:r>
          </a:p>
          <a:p>
            <a:pPr algn="ctr">
              <a:defRPr sz="1800" b="1">
                <a:solidFill>
                  <a:srgbClr val="C0392B"/>
                </a:solidFill>
              </a:defRPr>
            </a:pPr>
            <a:r>
              <a:t>~63% 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572000"/>
            <a:ext cx="347472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Full Graph GNN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All edges (T↔T, S↔S, T↔S)</a:t>
            </a:r>
            <a:br/>
            <a:r>
              <a:t>Wastes capacity on noise</a:t>
            </a:r>
          </a:p>
          <a:p>
            <a:pPr algn="ctr">
              <a:defRPr sz="1800" b="1">
                <a:solidFill>
                  <a:srgbClr val="D35400"/>
                </a:solidFill>
              </a:defRPr>
            </a:pPr>
            <a:r>
              <a:t>~67% F1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572000"/>
            <a:ext cx="347472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A1A1A"/>
                </a:solidFill>
              </a:defRPr>
            </a:pPr>
            <a:r>
              <a:t>Bipartite GNN</a:t>
            </a:r>
          </a:p>
          <a:p>
            <a:pPr algn="ctr">
              <a:defRPr sz="1100">
                <a:solidFill>
                  <a:srgbClr val="555566"/>
                </a:solidFill>
              </a:defRPr>
            </a:pPr>
            <a:r>
              <a:t>Only T↔S edges</a:t>
            </a:r>
            <a:br/>
            <a:r>
              <a:t>Focused on interface</a:t>
            </a:r>
          </a:p>
          <a:p>
            <a:pPr algn="ctr">
              <a:defRPr sz="1800" b="1">
                <a:solidFill>
                  <a:srgbClr val="27AE60"/>
                </a:solidFill>
              </a:defRPr>
            </a:pPr>
            <a:r>
              <a:t>70.7% F1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Results: Thesis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35400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35400"/>
                </a:solidFill>
                <a:latin typeface="Calibri"/>
              </a:defRPr>
            </a:pPr>
            <a:r>
              <a:t>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097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35400"/>
                </a:solidFill>
                <a:latin typeface="Calibri"/>
              </a:defRPr>
            </a:pPr>
            <a:r>
              <a:t>IPS-A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35400"/>
                </a:solidFill>
                <a:latin typeface="Calibri"/>
              </a:defRPr>
            </a:pPr>
            <a:r>
              <a:t>IPS-B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35400"/>
                </a:solidFill>
                <a:latin typeface="Calibri"/>
              </a:defRPr>
            </a:pPr>
            <a:r>
              <a:t>IPS-C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097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35400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097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35400"/>
                </a:solidFill>
                <a:latin typeface="Calibri"/>
              </a:defRPr>
            </a:pPr>
            <a:r>
              <a:t>QWK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t>DeepSets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5087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REG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47.3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77.1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63.1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54.1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920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t>CLAM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9202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920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920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67.8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1920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37.0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331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t>AB-MIL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3317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REG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48.2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63.4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78.1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331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63.2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331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55.5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F8C8D"/>
                </a:solidFill>
                <a:latin typeface="Calibri"/>
              </a:defRPr>
            </a:pPr>
            <a:r>
              <a:t>Patch-GCN (1L)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27432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REG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2743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41.1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743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65.1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743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77.9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743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61.4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743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50.7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154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5400"/>
                </a:solidFill>
                <a:latin typeface="Calibri"/>
              </a:defRPr>
            </a:pPr>
            <a:r>
              <a:t>Context-Aware MIL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1546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35400"/>
                </a:solidFill>
                <a:latin typeface="Calibri"/>
              </a:defRPr>
            </a:pPr>
            <a:r>
              <a:t>REG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154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35400"/>
                </a:solidFill>
                <a:latin typeface="Calibri"/>
              </a:defRPr>
            </a:pPr>
            <a:r>
              <a:t>47.1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154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35400"/>
                </a:solidFill>
                <a:latin typeface="Calibri"/>
              </a:defRPr>
            </a:pPr>
            <a:r>
              <a:t>62.7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154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35400"/>
                </a:solidFill>
                <a:latin typeface="Calibri"/>
              </a:defRPr>
            </a:pPr>
            <a:r>
              <a:t>80.1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154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35400"/>
                </a:solidFill>
                <a:latin typeface="Calibri"/>
              </a:defRPr>
            </a:pPr>
            <a:r>
              <a:t>63.3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154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35400"/>
                </a:solidFill>
                <a:latin typeface="Calibri"/>
              </a:defRPr>
            </a:pPr>
            <a:r>
              <a:t>62.9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566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Calibri"/>
              </a:defRPr>
            </a:pPr>
            <a:r>
              <a:t>Bipartite GIN (ours)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35661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REG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3566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61.0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566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67.0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3566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84.2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3566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70.7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35661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69.1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Key Ablation Findings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Bipartite &gt; Full Graph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T↔S only edges outperform all-edges graphs at every radius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Regression &gt; Classification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Huber loss &gt;&gt; cross-entropy for ordinal grading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35400"/>
                </a:solidFill>
                <a:latin typeface="Calibri"/>
              </a:defRPr>
            </a:pPr>
            <a:r>
              <a:t>1 layer &gt; 2-3 layers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Deeper GNNs over-smooth at larger radii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r=3 &gt; r=2 &gt; r=1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More spatial context consistently helps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6400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8C8D"/>
                </a:solidFill>
                <a:latin typeface="Calibri"/>
              </a:defRPr>
            </a:pPr>
            <a:r>
              <a:t>GIN ≈ GATv2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Sum aggregation matches attention; simpler is better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Patient-Level IPS Prediction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980B9"/>
                </a:solidFill>
              </a:defRPr>
            </a:pPr>
            <a:r>
              <a:t>Slide 1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77440" y="16459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17520" y="1371600"/>
            <a:ext cx="164592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Bipartite</a:t>
            </a:r>
            <a:br/>
            <a:r>
              <a:t>Graph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46320" y="16459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0" y="1371600"/>
            <a:ext cx="13716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GIN</a:t>
            </a:r>
            <a:br/>
            <a:r>
              <a:t>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40880" y="16459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0" y="1371600"/>
            <a:ext cx="13716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35400"/>
                </a:solidFill>
              </a:defRPr>
            </a:pPr>
            <a:r>
              <a:t>Grade: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8288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980B9"/>
                </a:solidFill>
              </a:defRPr>
            </a:pPr>
            <a:r>
              <a:t>Slide 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77440" y="30175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17520" y="2743200"/>
            <a:ext cx="164592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Bipartite</a:t>
            </a:r>
            <a:br/>
            <a:r>
              <a:t>Graph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6320" y="30175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0" y="2743200"/>
            <a:ext cx="13716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GIN</a:t>
            </a:r>
            <a:br/>
            <a:r>
              <a:t>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0880" y="30175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680960" y="2743200"/>
            <a:ext cx="13716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35400"/>
                </a:solidFill>
              </a:defRPr>
            </a:pPr>
            <a:r>
              <a:t>Grade: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18288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980B9"/>
                </a:solidFill>
              </a:defRPr>
            </a:pPr>
            <a:r>
              <a:t>Slide 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77440" y="43891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017520" y="4114800"/>
            <a:ext cx="164592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Bipartite</a:t>
            </a:r>
            <a:br/>
            <a:r>
              <a:t>Graph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46320" y="43891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0" y="4114800"/>
            <a:ext cx="13716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GIN</a:t>
            </a:r>
            <a:br/>
            <a:r>
              <a:t>Model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40880" y="4389120"/>
            <a:ext cx="45720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80960" y="4114800"/>
            <a:ext cx="1371600" cy="9144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35400"/>
                </a:solidFill>
              </a:defRPr>
            </a:pPr>
            <a:r>
              <a:t>Grade: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371600"/>
            <a:ext cx="45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A1A1A"/>
                </a:solidFill>
                <a:latin typeface="Calibri"/>
              </a:defRPr>
            </a:pPr>
            <a:r>
              <a:t>}</a:t>
            </a:r>
            <a:br/>
            <a:br/>
            <a:r>
              <a:t>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2103120"/>
            <a:ext cx="2011680" cy="1828800"/>
          </a:xfrm>
          <a:prstGeom prst="roundRect">
            <a:avLst/>
          </a:prstGeom>
          <a:solidFill>
            <a:srgbClr val="F0F0F5"/>
          </a:solidFill>
          <a:ln w="254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Sum = 12</a:t>
            </a:r>
          </a:p>
          <a:p>
            <a:br/>
            <a:r>
              <a:t>IPS-C</a:t>
            </a:r>
          </a:p>
          <a:p>
            <a:pPr algn="ctr">
              <a:defRPr sz="1200">
                <a:solidFill>
                  <a:srgbClr val="555566"/>
                </a:solidFill>
              </a:defRPr>
            </a:pPr>
            <a:r>
              <a:t>Highly</a:t>
            </a:r>
            <a:br/>
            <a:r>
              <a:t>Infiltrative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59"/>
              </a:spcAft>
              <a:defRPr sz="1300" b="0">
                <a:solidFill>
                  <a:srgbClr val="555566"/>
                </a:solidFill>
                <a:latin typeface="Calibri"/>
              </a:defRPr>
            </a:pPr>
            <a:r>
              <a:t>• Each WSI → graph → GIN → predicted grade (1-5 continuous → rounded to integer)</a:t>
            </a:r>
          </a:p>
          <a:p>
            <a:pPr>
              <a:spcAft>
                <a:spcPts val="459"/>
              </a:spcAft>
              <a:defRPr sz="1300" b="0">
                <a:solidFill>
                  <a:srgbClr val="555566"/>
                </a:solidFill>
                <a:latin typeface="Calibri"/>
              </a:defRPr>
            </a:pPr>
            <a:r>
              <a:t>• Sum 3 slide grades: [3-6] = IPS-A  |  [7-9] = IPS-B  |  [10-15] = IPS-C</a:t>
            </a:r>
          </a:p>
          <a:p>
            <a:pPr>
              <a:spcAft>
                <a:spcPts val="459"/>
              </a:spcAft>
              <a:defRPr sz="1300" b="0">
                <a:solidFill>
                  <a:srgbClr val="555566"/>
                </a:solidFill>
                <a:latin typeface="Calibri"/>
              </a:defRPr>
            </a:pPr>
            <a:r>
              <a:t>• Only patients with exactly 3 slides are evaluated (61 patients)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1541</Words>
  <Application>Microsoft Macintosh PowerPoint</Application>
  <PresentationFormat>Widescreen</PresentationFormat>
  <Paragraphs>343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HIKMET SINAN CAKMAK</cp:lastModifiedBy>
  <cp:revision>5</cp:revision>
  <dcterms:created xsi:type="dcterms:W3CDTF">2013-01-27T09:14:16Z</dcterms:created>
  <dcterms:modified xsi:type="dcterms:W3CDTF">2026-03-26T06:00:59Z</dcterms:modified>
  <cp:category/>
</cp:coreProperties>
</file>